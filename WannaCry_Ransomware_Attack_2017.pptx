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Introduce yourself, the course, and the institution. State that this seminar examines the WannaCry ransomware attack of May 2017, one of the most disruptive cybersecurity incidents in history, as a case study to understand ransomware mechanics, organizational impact, and the security lessons that emerged from it. Mention the agenda will move from background concepts, through a detailed timeline and technical analysis, to lessons learned and future best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why WannaCry matters as a teaching case: it combined a self-propagating worm with ransomware encryption, something rarely seen at this scale before. Walk through the four stat cards on the right — speed of spread, number of organizations affected, financial damage, and the specific toll on UK healthcare — to give the audience a sense of scale before diving into details. Emphasize that studying real incidents like this helps translate security theory into practical defensive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chain of events that made WannaCry possible, before describing the attack itself. Point to each card in sequence: the NSA originally developed the EternalBlue exploit for intelligence purposes; the Shadow Brokers group leaked it publicly in April 2017; Microsoft had already released the MS17-010 patch a month prior but many organizations had not applied it; and unknown threat actors then weaponized the exploit into the WannaCry cryptoworm. This sets up the key lesson about patch management explored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ransomware clearly before describing WannaCry specifically. Use the left card to explain the general mechanics: malware that denies access to data or systems until a ransom is paid, usually in cryptocurrency. Then walk through the three-column comparison on the right: locker ransomware which blocks the whole device, crypto ransomware which encrypts files individually, and worm-based ransomware — WannaCry's category — which combines encryption with automatic network propagation, making it far more dangerous and fast-spreading than typical ransomware families.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audience along the horizontal timeline from left to right. The exploit was leaked in April 2017; the global outbreak began the morning of May 12; the UK's NHS and Spain's Telefónica were among the earliest and most visible victims that same day; a security researcher discovered and activated WannaCry's kill-switch domain on May 13, slowing the spread; new variants without the kill switch appeared May 14; and organizations worldwide spent the following days on patching, remediation, and recovery. Emphasize how compressed this timeline was — a global crisis unfolding in under 72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mechanics of the live attack using the left-hand bullets, then point to the illustrative ransom-note recreation on the right — WannaCry's signature red "Wana Decrypt0r" screen with a countdown timer. Explain that victims saw a ransom demand of $300 rising to $600, a countdown to the payment deadline, and a second countdown after which the attackers threatened permanent data loss. Note that despite payment instructions, decryption was not reliably delivered even to those who paid — a common ransomware risk worth highlighting.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six-stage kill chain from left to right: scanning for exposed SMB services, exploiting EternalBlue, implanting the DoublePulsar backdoor, encrypting files with a combination of AES-128 and RSA-2048, displaying the ransom note, and finally self-propagating to other reachable machines — closing the loop back to scanning. Then highlight the kill-switch panel at the bottom: WannaCry queried an unregistered, gibberish domain before executing its payload; a security researcher registered that domain, which caused the malware to treat itself as "already run" and quit, slowing the outbreak dramatically — though later variants removed this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six organizational case examples as evidence of how broad and cross-sector the disruption was — healthcare, manufacturing, telecom, logistics, government, and education were all affected within the same attack wave. Spend a bit more time on the NHS example since it had direct public-safety consequences: ambulances were diverted, and thousands of appointments and operations were cancelled. Note that total global damage estimates range from several hundred million to around $4 billion, reflecting both ransom payments and much larger downstream business-disruption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two parallel tracks: on the left, how governments and industry responded in the days after the outbreak — CERT advisories, Microsoft's unusual decision to patch out-of-support Windows XP and Server 2003, law-enforcement investigations by Europol and the FBI, and rapid vendor tooling. On the right, walk through the four-step recovery process organizations followed: patch and isolate affected systems, assess damage and restore from backups, communicate transparently with stakeholders, and harden defenses to prevent recurrence. This bridges naturally into the root-causes discussion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WannaCry's scale was not due to a single failure but a combination of systemic security gaps: delayed patching even after a fix was available, continued reliance on unsupported legacy operating systems, an outdated and unnecessarily internet-exposed SMBv1 service, flat unsegmented networks that let the worm move laterally without resistance, weak network monitoring that slowed detection, and — for many victims — the absence of a tested, offline backup strategy that would have made recovery ransom-free. Frame this as the bridge into the lessons-learned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five most important lessons from the WannaCry case, each mapping directly to one of the root causes just discussed: patch promptly to close known holes, segment networks to contain spread, keep tested offline backups to remove ransomware's leverage, train staff since human factors remain a common entry point, and invest in continuous monitoring so incidents are caught and contained early. Encourage the audience to think of these as a checklist applicable well beyond this one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a practical, actionable prevention framework organizations can adopt today: disciplined patch management, a proper 3-2-1 backup strategy (three copies, two media types, one offsite/offline), network segmentation, modern endpoint detection and response tools with behavior-based ransomware detection, ongoing security-awareness training, and strong access controls including least privilege and multi-factor authentication. Note that no single control is sufficient alone — these work best layered together, a concept known as defense in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technical discussion by looking forward: four converging trends shaping the next era of cybersecurity. AI and machine learning increasingly automate anomaly detection and response at speeds humans cannot match. Zero Trust architecture assumes no implicit trust for any user or device, requiring continuous verification — a direct answer to how WannaCry exploited flat, trust-everything networks. IoMT (Internet of Medical Things) security is critical given how healthcare was hit in 2017 and how much more connected medical equipment exists today. And cloud security demands new shared-responsibility thinking as infrastructure moves off traditional on-premise networks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the seminar to its conclusion by tying the case study back to universal principles: WannaCry demonstrated that a single unpatched vulnerability, combined with self-propagating malware, can cascade into a global crisis within hours. Reinforce that the fundamentals — patching, backups, segmentation, monitoring, and training — are not glamorous but remain the most effective defenses available. Restate the scale figures on the right as a final impression of why this case continues to be taught in cybersecurity courses worldwide.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for their attention and open the floor for questions. Be ready to discuss common follow-up topics: how kill-switches work and why relying on one is risky, why some victims who paid the ransom still did not recover their files, how NotPetya later built on similar techniques, and how Zero Trust and modern EDR tools would change the outcome if a similar exploit were leaked today. Provide contact details if follow-up discussion is welcome after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3.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2.png"/><Relationship Id="rId5" Type="http://schemas.openxmlformats.org/officeDocument/2006/relationships/image" Target="../media/image-3-5.png"/><Relationship Id="rId6" Type="http://schemas.openxmlformats.org/officeDocument/2006/relationships/image" Target="../media/image-3-2.png"/><Relationship Id="rId7" Type="http://schemas.openxmlformats.org/officeDocument/2006/relationships/image" Target="../media/image-3-7.pn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1.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2.png"/><Relationship Id="rId5" Type="http://schemas.openxmlformats.org/officeDocument/2006/relationships/image" Target="../media/image-7-5.png"/><Relationship Id="rId6" Type="http://schemas.openxmlformats.org/officeDocument/2006/relationships/image" Target="../media/image-7-2.png"/><Relationship Id="rId7" Type="http://schemas.openxmlformats.org/officeDocument/2006/relationships/image" Target="../media/image-7-7.png"/><Relationship Id="rId8" Type="http://schemas.openxmlformats.org/officeDocument/2006/relationships/image" Target="../media/image-7-2.png"/><Relationship Id="rId9" Type="http://schemas.openxmlformats.org/officeDocument/2006/relationships/image" Target="../media/image-7-9.png"/><Relationship Id="rId10" Type="http://schemas.openxmlformats.org/officeDocument/2006/relationships/image" Target="../media/image-7-2.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2.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0080" y="566928"/>
            <a:ext cx="7315200" cy="320040"/>
          </a:xfrm>
          <a:prstGeom prst="rect">
            <a:avLst/>
          </a:prstGeom>
          <a:noFill/>
          <a:ln/>
        </p:spPr>
        <p:txBody>
          <a:bodyPr wrap="square" lIns="0" tIns="0" rIns="0" bIns="0" rtlCol="0" anchor="ctr"/>
          <a:lstStyle/>
          <a:p>
            <a:pPr indent="0" marL="0">
              <a:buNone/>
            </a:pPr>
            <a:r>
              <a:rPr lang="en-US" sz="1300" b="1" spc="200" kern="0" dirty="0">
                <a:solidFill>
                  <a:srgbClr val="3EC6FF"/>
                </a:solidFill>
                <a:latin typeface="Calibri" pitchFamily="34" charset="0"/>
                <a:ea typeface="Calibri" pitchFamily="34" charset="-122"/>
                <a:cs typeface="Calibri" pitchFamily="34" charset="-120"/>
              </a:rPr>
              <a:t>CYBERSECURITY CASE STUDY  ·  ICT ACADEMY OF KERALA</a:t>
            </a:r>
            <a:endParaRPr lang="en-US" sz="1300" dirty="0"/>
          </a:p>
        </p:txBody>
      </p:sp>
      <p:sp>
        <p:nvSpPr>
          <p:cNvPr id="3" name="Text 1"/>
          <p:cNvSpPr/>
          <p:nvPr/>
        </p:nvSpPr>
        <p:spPr>
          <a:xfrm>
            <a:off x="640080" y="1417320"/>
            <a:ext cx="7315200" cy="2011680"/>
          </a:xfrm>
          <a:prstGeom prst="rect">
            <a:avLst/>
          </a:prstGeom>
          <a:noFill/>
          <a:ln/>
        </p:spPr>
        <p:txBody>
          <a:bodyPr wrap="square" lIns="0" tIns="0" rIns="0" bIns="0" rtlCol="0" anchor="ctr"/>
          <a:lstStyle/>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WannaCry</a:t>
            </a:r>
            <a:endParaRPr lang="en-US" sz="4600" dirty="0"/>
          </a:p>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Ransomware Attack</a:t>
            </a:r>
            <a:endParaRPr lang="en-US" sz="4600" dirty="0"/>
          </a:p>
        </p:txBody>
      </p:sp>
      <p:sp>
        <p:nvSpPr>
          <p:cNvPr id="4" name="Text 2"/>
          <p:cNvSpPr/>
          <p:nvPr/>
        </p:nvSpPr>
        <p:spPr>
          <a:xfrm>
            <a:off x="658368" y="3246120"/>
            <a:ext cx="2743200" cy="548640"/>
          </a:xfrm>
          <a:prstGeom prst="rect">
            <a:avLst/>
          </a:prstGeom>
          <a:noFill/>
          <a:ln/>
        </p:spPr>
        <p:txBody>
          <a:bodyPr wrap="square" lIns="0" tIns="0" rIns="0" bIns="0" rtlCol="0" anchor="ctr"/>
          <a:lstStyle/>
          <a:p>
            <a:pPr indent="0" marL="0">
              <a:buNone/>
            </a:pPr>
            <a:r>
              <a:rPr lang="en-US" sz="2600" b="1" dirty="0">
                <a:solidFill>
                  <a:srgbClr val="3EC6FF"/>
                </a:solidFill>
                <a:latin typeface="Cambria" pitchFamily="34" charset="0"/>
                <a:ea typeface="Cambria" pitchFamily="34" charset="-122"/>
                <a:cs typeface="Cambria" pitchFamily="34" charset="-120"/>
              </a:rPr>
              <a:t>2017</a:t>
            </a:r>
            <a:endParaRPr lang="en-US" sz="2600" dirty="0"/>
          </a:p>
        </p:txBody>
      </p:sp>
      <p:sp>
        <p:nvSpPr>
          <p:cNvPr id="5" name="Shape 3"/>
          <p:cNvSpPr/>
          <p:nvPr/>
        </p:nvSpPr>
        <p:spPr>
          <a:xfrm>
            <a:off x="658368" y="3886200"/>
            <a:ext cx="2926080" cy="0"/>
          </a:xfrm>
          <a:prstGeom prst="line">
            <a:avLst/>
          </a:prstGeom>
          <a:noFill/>
          <a:ln w="19050">
            <a:solidFill>
              <a:srgbClr val="2E86FF">
                <a:alpha val="70000"/>
              </a:srgbClr>
            </a:solidFill>
            <a:prstDash val="solid"/>
          </a:ln>
        </p:spPr>
      </p:sp>
      <p:sp>
        <p:nvSpPr>
          <p:cNvPr id="6" name="Text 4"/>
          <p:cNvSpPr/>
          <p:nvPr/>
        </p:nvSpPr>
        <p:spPr>
          <a:xfrm>
            <a:off x="640080" y="4023360"/>
            <a:ext cx="6949440" cy="54864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A Case Study on Ransomware Attacks in Cybersecurity</a:t>
            </a:r>
            <a:endParaRPr lang="en-US" sz="1600" dirty="0"/>
          </a:p>
        </p:txBody>
      </p:sp>
      <p:sp>
        <p:nvSpPr>
          <p:cNvPr id="7" name="Shape 5"/>
          <p:cNvSpPr/>
          <p:nvPr/>
        </p:nvSpPr>
        <p:spPr>
          <a:xfrm>
            <a:off x="640080" y="4892040"/>
            <a:ext cx="6035040" cy="1417320"/>
          </a:xfrm>
          <a:prstGeom prst="roundRect">
            <a:avLst>
              <a:gd name="adj" fmla="val 6452"/>
            </a:avLst>
          </a:prstGeom>
          <a:solidFill>
            <a:srgbClr val="112240">
              <a:alpha val="80000"/>
            </a:srgbClr>
          </a:solidFill>
          <a:ln w="9525">
            <a:solidFill>
              <a:srgbClr val="2E86FF">
                <a:alpha val="50000"/>
              </a:srgbClr>
            </a:solidFill>
            <a:prstDash val="solid"/>
          </a:ln>
        </p:spPr>
      </p:sp>
      <p:pic>
        <p:nvPicPr>
          <p:cNvPr id="8" name="Image 0" descr="/home/claude/assets/badges/userTie_outline.png">    </p:cNvPr>
          <p:cNvPicPr>
            <a:picLocks noChangeAspect="1"/>
          </p:cNvPicPr>
          <p:nvPr/>
        </p:nvPicPr>
        <p:blipFill>
          <a:blip r:embed="rId1"/>
          <a:stretch>
            <a:fillRect/>
          </a:stretch>
        </p:blipFill>
        <p:spPr>
          <a:xfrm>
            <a:off x="868680" y="5102352"/>
            <a:ext cx="566928" cy="566928"/>
          </a:xfrm>
          <a:prstGeom prst="rect">
            <a:avLst/>
          </a:prstGeom>
        </p:spPr>
      </p:pic>
      <p:sp>
        <p:nvSpPr>
          <p:cNvPr id="9" name="Text 6"/>
          <p:cNvSpPr/>
          <p:nvPr/>
        </p:nvSpPr>
        <p:spPr>
          <a:xfrm>
            <a:off x="1600200" y="5029200"/>
            <a:ext cx="4937760" cy="1188720"/>
          </a:xfrm>
          <a:prstGeom prst="rect">
            <a:avLst/>
          </a:prstGeom>
          <a:noFill/>
          <a:ln/>
        </p:spPr>
        <p:txBody>
          <a:bodyPr wrap="square" lIns="0" tIns="0" rIns="0" bIns="0" rtlCol="0" anchor="t"/>
          <a:lstStyle/>
          <a:p>
            <a:pPr indent="0" marL="0">
              <a:lnSpc>
                <a:spcPct val="115000"/>
              </a:lnSpc>
              <a:buNone/>
            </a:pPr>
            <a:r>
              <a:rPr lang="en-US" sz="1200" dirty="0">
                <a:solidFill>
                  <a:srgbClr val="8FA9C9"/>
                </a:solidFill>
                <a:latin typeface="Calibri" pitchFamily="34" charset="0"/>
                <a:ea typeface="Calibri" pitchFamily="34" charset="-122"/>
                <a:cs typeface="Calibri" pitchFamily="34" charset="-120"/>
              </a:rPr>
              <a:t>Presented by  </a:t>
            </a:r>
            <a:pPr indent="0" marL="0">
              <a:lnSpc>
                <a:spcPct val="115000"/>
              </a:lnSpc>
              <a:buNone/>
            </a:pPr>
            <a:r>
              <a:rPr lang="en-US" sz="1500" b="1" dirty="0">
                <a:solidFill>
                  <a:srgbClr val="FFFFFF"/>
                </a:solidFill>
                <a:latin typeface="Calibri" pitchFamily="34" charset="0"/>
                <a:ea typeface="Calibri" pitchFamily="34" charset="-122"/>
                <a:cs typeface="Calibri" pitchFamily="34" charset="-120"/>
              </a:rPr>
              <a:t>Sangeeth M</a:t>
            </a:r>
            <a:endParaRPr lang="en-US" sz="1200" dirty="0"/>
          </a:p>
          <a:p>
            <a:pPr indent="0" marL="0">
              <a:lnSpc>
                <a:spcPct val="115000"/>
              </a:lnSpc>
              <a:buNone/>
            </a:pPr>
            <a:r>
              <a:rPr lang="en-US" sz="1200" dirty="0">
                <a:solidFill>
                  <a:srgbClr val="8FA9C9"/>
                </a:solidFill>
                <a:latin typeface="Calibri" pitchFamily="34" charset="0"/>
                <a:ea typeface="Calibri" pitchFamily="34" charset="-122"/>
                <a:cs typeface="Calibri" pitchFamily="34" charset="-120"/>
              </a:rPr>
              <a:t>Course: </a:t>
            </a:r>
            <a:pPr indent="0" marL="0">
              <a:lnSpc>
                <a:spcPct val="115000"/>
              </a:lnSpc>
              <a:buNone/>
            </a:pPr>
            <a:r>
              <a:rPr lang="en-US" sz="1250" dirty="0">
                <a:solidFill>
                  <a:srgbClr val="CADCFC"/>
                </a:solidFill>
                <a:latin typeface="Calibri" pitchFamily="34" charset="0"/>
                <a:ea typeface="Calibri" pitchFamily="34" charset="-122"/>
                <a:cs typeface="Calibri" pitchFamily="34" charset="-120"/>
              </a:rPr>
              <a:t>Certified Cybersecurity Analyst</a:t>
            </a:r>
            <a:endParaRPr lang="en-US" sz="1200" dirty="0"/>
          </a:p>
          <a:p>
            <a:pPr indent="0" marL="0">
              <a:lnSpc>
                <a:spcPct val="115000"/>
              </a:lnSpc>
              <a:buNone/>
            </a:pPr>
            <a:r>
              <a:rPr lang="en-US" sz="1200" dirty="0">
                <a:solidFill>
                  <a:srgbClr val="8FA9C9"/>
                </a:solidFill>
                <a:latin typeface="Calibri" pitchFamily="34" charset="0"/>
                <a:ea typeface="Calibri" pitchFamily="34" charset="-122"/>
                <a:cs typeface="Calibri" pitchFamily="34" charset="-120"/>
              </a:rPr>
              <a:t>Institution: </a:t>
            </a:r>
            <a:pPr indent="0" marL="0">
              <a:lnSpc>
                <a:spcPct val="115000"/>
              </a:lnSpc>
              <a:buNone/>
            </a:pPr>
            <a:r>
              <a:rPr lang="en-US" sz="1250" dirty="0">
                <a:solidFill>
                  <a:srgbClr val="CADCFC"/>
                </a:solidFill>
                <a:latin typeface="Calibri" pitchFamily="34" charset="0"/>
                <a:ea typeface="Calibri" pitchFamily="34" charset="-122"/>
                <a:cs typeface="Calibri" pitchFamily="34" charset="-120"/>
              </a:rPr>
              <a:t>ICT Academy of Kerala</a:t>
            </a:r>
            <a:endParaRPr lang="en-US" sz="1200" dirty="0"/>
          </a:p>
        </p:txBody>
      </p:sp>
      <p:pic>
        <p:nvPicPr>
          <p:cNvPr id="10" name="Image 1" descr="/home/claude/assets/bg/hero_lock.png">    </p:cNvPr>
          <p:cNvPicPr>
            <a:picLocks noChangeAspect="1"/>
          </p:cNvPicPr>
          <p:nvPr/>
        </p:nvPicPr>
        <p:blipFill>
          <a:blip r:embed="rId2"/>
          <a:stretch>
            <a:fillRect/>
          </a:stretch>
        </p:blipFill>
        <p:spPr>
          <a:xfrm>
            <a:off x="7863840" y="1051560"/>
            <a:ext cx="3840480" cy="3840480"/>
          </a:xfrm>
          <a:prstGeom prst="rect">
            <a:avLst/>
          </a:prstGeom>
        </p:spPr>
      </p:pic>
      <p:sp>
        <p:nvSpPr>
          <p:cNvPr id="11" name="Shape 7"/>
          <p:cNvSpPr/>
          <p:nvPr/>
        </p:nvSpPr>
        <p:spPr>
          <a:xfrm>
            <a:off x="7315200" y="5166360"/>
            <a:ext cx="1325880" cy="1051560"/>
          </a:xfrm>
          <a:prstGeom prst="roundRect">
            <a:avLst>
              <a:gd name="adj" fmla="val 6957"/>
            </a:avLst>
          </a:prstGeom>
          <a:solidFill>
            <a:srgbClr val="16304F">
              <a:alpha val="75000"/>
            </a:srgbClr>
          </a:solidFill>
          <a:ln w="6350">
            <a:solidFill>
              <a:srgbClr val="2E86FF">
                <a:alpha val="40000"/>
              </a:srgbClr>
            </a:solidFill>
            <a:prstDash val="solid"/>
          </a:ln>
        </p:spPr>
      </p:sp>
      <p:pic>
        <p:nvPicPr>
          <p:cNvPr id="12" name="Image 2" descr="/home/claude/assets/badges/globe_fill.png">    </p:cNvPr>
          <p:cNvPicPr>
            <a:picLocks noChangeAspect="1"/>
          </p:cNvPicPr>
          <p:nvPr/>
        </p:nvPicPr>
        <p:blipFill>
          <a:blip r:embed="rId3"/>
          <a:stretch>
            <a:fillRect/>
          </a:stretch>
        </p:blipFill>
        <p:spPr>
          <a:xfrm>
            <a:off x="7749540" y="5285232"/>
            <a:ext cx="457200" cy="457200"/>
          </a:xfrm>
          <a:prstGeom prst="rect">
            <a:avLst/>
          </a:prstGeom>
        </p:spPr>
      </p:pic>
      <p:sp>
        <p:nvSpPr>
          <p:cNvPr id="13" name="Text 8"/>
          <p:cNvSpPr/>
          <p:nvPr/>
        </p:nvSpPr>
        <p:spPr>
          <a:xfrm>
            <a:off x="7360920" y="5806440"/>
            <a:ext cx="1234440" cy="365760"/>
          </a:xfrm>
          <a:prstGeom prst="rect">
            <a:avLst/>
          </a:prstGeom>
          <a:noFill/>
          <a:ln/>
        </p:spPr>
        <p:txBody>
          <a:bodyPr wrap="square" lIns="0" tIns="0" rIns="0" bIns="0" rtlCol="0" anchor="ctr"/>
          <a:lstStyle/>
          <a:p>
            <a:pPr algn="ctr" indent="0" marL="0">
              <a:buNone/>
            </a:pPr>
            <a:r>
              <a:rPr lang="en-US" sz="950" b="1" dirty="0">
                <a:solidFill>
                  <a:srgbClr val="CADCFC"/>
                </a:solidFill>
                <a:latin typeface="Calibri" pitchFamily="34" charset="0"/>
                <a:ea typeface="Calibri" pitchFamily="34" charset="-122"/>
                <a:cs typeface="Calibri" pitchFamily="34" charset="-120"/>
              </a:rPr>
              <a:t>150+ Countries</a:t>
            </a:r>
            <a:endParaRPr lang="en-US" sz="950" dirty="0"/>
          </a:p>
        </p:txBody>
      </p:sp>
      <p:sp>
        <p:nvSpPr>
          <p:cNvPr id="14" name="Shape 9"/>
          <p:cNvSpPr/>
          <p:nvPr/>
        </p:nvSpPr>
        <p:spPr>
          <a:xfrm>
            <a:off x="8778240" y="5166360"/>
            <a:ext cx="1325880" cy="1051560"/>
          </a:xfrm>
          <a:prstGeom prst="roundRect">
            <a:avLst>
              <a:gd name="adj" fmla="val 6957"/>
            </a:avLst>
          </a:prstGeom>
          <a:solidFill>
            <a:srgbClr val="16304F">
              <a:alpha val="75000"/>
            </a:srgbClr>
          </a:solidFill>
          <a:ln w="6350">
            <a:solidFill>
              <a:srgbClr val="2E86FF">
                <a:alpha val="40000"/>
              </a:srgbClr>
            </a:solidFill>
            <a:prstDash val="solid"/>
          </a:ln>
        </p:spPr>
      </p:sp>
      <p:pic>
        <p:nvPicPr>
          <p:cNvPr id="15" name="Image 3" descr="/home/claude/assets/badges/skull_fill.png">    </p:cNvPr>
          <p:cNvPicPr>
            <a:picLocks noChangeAspect="1"/>
          </p:cNvPicPr>
          <p:nvPr/>
        </p:nvPicPr>
        <p:blipFill>
          <a:blip r:embed="rId4"/>
          <a:stretch>
            <a:fillRect/>
          </a:stretch>
        </p:blipFill>
        <p:spPr>
          <a:xfrm>
            <a:off x="9212580" y="5285232"/>
            <a:ext cx="457200" cy="457200"/>
          </a:xfrm>
          <a:prstGeom prst="rect">
            <a:avLst/>
          </a:prstGeom>
        </p:spPr>
      </p:pic>
      <p:sp>
        <p:nvSpPr>
          <p:cNvPr id="16" name="Text 10"/>
          <p:cNvSpPr/>
          <p:nvPr/>
        </p:nvSpPr>
        <p:spPr>
          <a:xfrm>
            <a:off x="8823960" y="5806440"/>
            <a:ext cx="1234440" cy="365760"/>
          </a:xfrm>
          <a:prstGeom prst="rect">
            <a:avLst/>
          </a:prstGeom>
          <a:noFill/>
          <a:ln/>
        </p:spPr>
        <p:txBody>
          <a:bodyPr wrap="square" lIns="0" tIns="0" rIns="0" bIns="0" rtlCol="0" anchor="ctr"/>
          <a:lstStyle/>
          <a:p>
            <a:pPr algn="ctr" indent="0" marL="0">
              <a:buNone/>
            </a:pPr>
            <a:r>
              <a:rPr lang="en-US" sz="950" b="1" dirty="0">
                <a:solidFill>
                  <a:srgbClr val="CADCFC"/>
                </a:solidFill>
                <a:latin typeface="Calibri" pitchFamily="34" charset="0"/>
                <a:ea typeface="Calibri" pitchFamily="34" charset="-122"/>
                <a:cs typeface="Calibri" pitchFamily="34" charset="-120"/>
              </a:rPr>
              <a:t>300,000+ Devices</a:t>
            </a:r>
            <a:endParaRPr lang="en-US" sz="950" dirty="0"/>
          </a:p>
        </p:txBody>
      </p:sp>
      <p:sp>
        <p:nvSpPr>
          <p:cNvPr id="17" name="Shape 11"/>
          <p:cNvSpPr/>
          <p:nvPr/>
        </p:nvSpPr>
        <p:spPr>
          <a:xfrm>
            <a:off x="10241280" y="5166360"/>
            <a:ext cx="1325880" cy="1051560"/>
          </a:xfrm>
          <a:prstGeom prst="roundRect">
            <a:avLst>
              <a:gd name="adj" fmla="val 6957"/>
            </a:avLst>
          </a:prstGeom>
          <a:solidFill>
            <a:srgbClr val="16304F">
              <a:alpha val="75000"/>
            </a:srgbClr>
          </a:solidFill>
          <a:ln w="6350">
            <a:solidFill>
              <a:srgbClr val="2E86FF">
                <a:alpha val="40000"/>
              </a:srgbClr>
            </a:solidFill>
            <a:prstDash val="solid"/>
          </a:ln>
        </p:spPr>
      </p:sp>
      <p:pic>
        <p:nvPicPr>
          <p:cNvPr id="18" name="Image 4" descr="/home/claude/assets/badges/dollar_fill.png">    </p:cNvPr>
          <p:cNvPicPr>
            <a:picLocks noChangeAspect="1"/>
          </p:cNvPicPr>
          <p:nvPr/>
        </p:nvPicPr>
        <p:blipFill>
          <a:blip r:embed="rId5"/>
          <a:stretch>
            <a:fillRect/>
          </a:stretch>
        </p:blipFill>
        <p:spPr>
          <a:xfrm>
            <a:off x="10675620" y="5285232"/>
            <a:ext cx="457200" cy="457200"/>
          </a:xfrm>
          <a:prstGeom prst="rect">
            <a:avLst/>
          </a:prstGeom>
        </p:spPr>
      </p:pic>
      <p:sp>
        <p:nvSpPr>
          <p:cNvPr id="19" name="Text 12"/>
          <p:cNvSpPr/>
          <p:nvPr/>
        </p:nvSpPr>
        <p:spPr>
          <a:xfrm>
            <a:off x="10287000" y="5806440"/>
            <a:ext cx="1234440" cy="365760"/>
          </a:xfrm>
          <a:prstGeom prst="rect">
            <a:avLst/>
          </a:prstGeom>
          <a:noFill/>
          <a:ln/>
        </p:spPr>
        <p:txBody>
          <a:bodyPr wrap="square" lIns="0" tIns="0" rIns="0" bIns="0" rtlCol="0" anchor="ctr"/>
          <a:lstStyle/>
          <a:p>
            <a:pPr algn="ctr" indent="0" marL="0">
              <a:buNone/>
            </a:pPr>
            <a:r>
              <a:rPr lang="en-US" sz="950" b="1" dirty="0">
                <a:solidFill>
                  <a:srgbClr val="CADCFC"/>
                </a:solidFill>
                <a:latin typeface="Calibri" pitchFamily="34" charset="0"/>
                <a:ea typeface="Calibri" pitchFamily="34" charset="-122"/>
                <a:cs typeface="Calibri" pitchFamily="34" charset="-120"/>
              </a:rPr>
              <a:t>$4B+ in Losses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3EC6FF"/>
                </a:solidFill>
                <a:latin typeface="Calibri" pitchFamily="34" charset="0"/>
                <a:ea typeface="Calibri" pitchFamily="34" charset="-122"/>
                <a:cs typeface="Calibri" pitchFamily="34" charset="-120"/>
              </a:rPr>
              <a:t>INTRODUCTION</a:t>
            </a:r>
            <a:endParaRPr lang="en-US" sz="1250" dirty="0"/>
          </a:p>
        </p:txBody>
      </p:sp>
      <p:sp>
        <p:nvSpPr>
          <p:cNvPr id="3" name="Text 1"/>
          <p:cNvSpPr/>
          <p:nvPr/>
        </p:nvSpPr>
        <p:spPr>
          <a:xfrm>
            <a:off x="548640" y="685800"/>
            <a:ext cx="10607040" cy="82296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Why Study the WannaCry Attack?</a:t>
            </a:r>
            <a:endParaRPr lang="en-US" sz="3200" dirty="0"/>
          </a:p>
        </p:txBody>
      </p:sp>
      <p:sp>
        <p:nvSpPr>
          <p:cNvPr id="4" name="Shape 2"/>
          <p:cNvSpPr/>
          <p:nvPr/>
        </p:nvSpPr>
        <p:spPr>
          <a:xfrm>
            <a:off x="548640" y="1691640"/>
            <a:ext cx="5943600" cy="4434840"/>
          </a:xfrm>
          <a:prstGeom prst="roundRect">
            <a:avLst>
              <a:gd name="adj" fmla="val 1649"/>
            </a:avLst>
          </a:prstGeom>
          <a:solidFill>
            <a:srgbClr val="112240">
              <a:alpha val="85000"/>
            </a:srgbClr>
          </a:solidFill>
          <a:ln w="9525">
            <a:solidFill>
              <a:srgbClr val="2E86FF">
                <a:alpha val="45000"/>
              </a:srgbClr>
            </a:solidFill>
            <a:prstDash val="solid"/>
          </a:ln>
          <a:effectLst>
            <a:outerShdw sx="100000" sy="100000" kx="0" ky="0" algn="bl" rotWithShape="0" blurRad="101600" dist="38100" dir="5400000">
              <a:srgbClr val="000000">
                <a:alpha val="35000"/>
              </a:srgbClr>
            </a:outerShdw>
          </a:effectLst>
        </p:spPr>
      </p:sp>
      <p:pic>
        <p:nvPicPr>
          <p:cNvPr id="5" name="Image 0" descr="/home/claude/assets/badges/book_fill.png">    </p:cNvPr>
          <p:cNvPicPr>
            <a:picLocks noChangeAspect="1"/>
          </p:cNvPicPr>
          <p:nvPr/>
        </p:nvPicPr>
        <p:blipFill>
          <a:blip r:embed="rId1"/>
          <a:stretch>
            <a:fillRect/>
          </a:stretch>
        </p:blipFill>
        <p:spPr>
          <a:xfrm>
            <a:off x="749808" y="1892808"/>
            <a:ext cx="457200" cy="457200"/>
          </a:xfrm>
          <a:prstGeom prst="rect">
            <a:avLst/>
          </a:prstGeom>
        </p:spPr>
      </p:pic>
      <p:sp>
        <p:nvSpPr>
          <p:cNvPr id="6" name="Text 3"/>
          <p:cNvSpPr/>
          <p:nvPr/>
        </p:nvSpPr>
        <p:spPr>
          <a:xfrm>
            <a:off x="1371600" y="1874520"/>
            <a:ext cx="493776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Seminar Overview</a:t>
            </a:r>
            <a:endParaRPr lang="en-US" sz="1600" dirty="0"/>
          </a:p>
        </p:txBody>
      </p:sp>
      <p:sp>
        <p:nvSpPr>
          <p:cNvPr id="7" name="Text 4"/>
          <p:cNvSpPr/>
          <p:nvPr/>
        </p:nvSpPr>
        <p:spPr>
          <a:xfrm>
            <a:off x="777240" y="2468880"/>
            <a:ext cx="5486400" cy="3520440"/>
          </a:xfrm>
          <a:prstGeom prst="rect">
            <a:avLst/>
          </a:prstGeom>
          <a:noFill/>
          <a:ln/>
        </p:spPr>
        <p:txBody>
          <a:bodyPr wrap="square" lIns="0" tIns="0" rIns="0" bIns="0" rtlCol="0" anchor="t"/>
          <a:lstStyle/>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WannaCry was a global ransomware cryptoworm that struck in May 2017</a:t>
            </a:r>
            <a:endParaRPr lang="en-US" sz="1350" dirty="0"/>
          </a:p>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It exploited a leaked NSA vulnerability to spread without user action</a:t>
            </a:r>
            <a:endParaRPr lang="en-US" sz="1350" dirty="0"/>
          </a:p>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Over 300,000 computers were infected across 150+ countries in days</a:t>
            </a:r>
            <a:endParaRPr lang="en-US" sz="1350" dirty="0"/>
          </a:p>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Critical services — hospitals, telecoms, logistics — were paralyzed</a:t>
            </a:r>
            <a:endParaRPr lang="en-US" sz="1350" dirty="0"/>
          </a:p>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It remains a landmark case for understanding worm-based ransomware</a:t>
            </a:r>
            <a:endParaRPr lang="en-US" sz="1350" dirty="0"/>
          </a:p>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This session breaks down the attack, its impact, and key takeaways</a:t>
            </a:r>
            <a:endParaRPr lang="en-US" sz="1350" dirty="0"/>
          </a:p>
        </p:txBody>
      </p:sp>
      <p:sp>
        <p:nvSpPr>
          <p:cNvPr id="8" name="Shape 5"/>
          <p:cNvSpPr/>
          <p:nvPr/>
        </p:nvSpPr>
        <p:spPr>
          <a:xfrm>
            <a:off x="6720840" y="1691640"/>
            <a:ext cx="4937760" cy="960120"/>
          </a:xfrm>
          <a:prstGeom prst="roundRect">
            <a:avLst>
              <a:gd name="adj" fmla="val 7619"/>
            </a:avLst>
          </a:prstGeom>
          <a:solidFill>
            <a:srgbClr val="112240">
              <a:alpha val="85000"/>
            </a:srgbClr>
          </a:solidFill>
          <a:ln w="9525">
            <a:solidFill>
              <a:srgbClr val="2E86FF">
                <a:alpha val="45000"/>
              </a:srgbClr>
            </a:solidFill>
            <a:prstDash val="solid"/>
          </a:ln>
        </p:spPr>
      </p:sp>
      <p:pic>
        <p:nvPicPr>
          <p:cNvPr id="9" name="Image 1" descr="/home/claude/assets/badges/clock_fill.png">    </p:cNvPr>
          <p:cNvPicPr>
            <a:picLocks noChangeAspect="1"/>
          </p:cNvPicPr>
          <p:nvPr/>
        </p:nvPicPr>
        <p:blipFill>
          <a:blip r:embed="rId2"/>
          <a:stretch>
            <a:fillRect/>
          </a:stretch>
        </p:blipFill>
        <p:spPr>
          <a:xfrm>
            <a:off x="6931152" y="1892808"/>
            <a:ext cx="548640" cy="548640"/>
          </a:xfrm>
          <a:prstGeom prst="rect">
            <a:avLst/>
          </a:prstGeom>
        </p:spPr>
      </p:pic>
      <p:sp>
        <p:nvSpPr>
          <p:cNvPr id="10" name="Text 6"/>
          <p:cNvSpPr/>
          <p:nvPr/>
        </p:nvSpPr>
        <p:spPr>
          <a:xfrm>
            <a:off x="7635240" y="1764792"/>
            <a:ext cx="1920240" cy="457200"/>
          </a:xfrm>
          <a:prstGeom prst="rect">
            <a:avLst/>
          </a:prstGeom>
          <a:noFill/>
          <a:ln/>
        </p:spPr>
        <p:txBody>
          <a:bodyPr wrap="square" lIns="0" tIns="0" rIns="0" bIns="0" rtlCol="0" anchor="ctr"/>
          <a:lstStyle/>
          <a:p>
            <a:pPr indent="0" marL="0">
              <a:buNone/>
            </a:pPr>
            <a:r>
              <a:rPr lang="en-US" sz="2200" b="1" dirty="0">
                <a:solidFill>
                  <a:srgbClr val="3EC6FF"/>
                </a:solidFill>
                <a:latin typeface="Cambria" pitchFamily="34" charset="0"/>
                <a:ea typeface="Cambria" pitchFamily="34" charset="-122"/>
                <a:cs typeface="Cambria" pitchFamily="34" charset="-120"/>
              </a:rPr>
              <a:t>4 Days</a:t>
            </a:r>
            <a:endParaRPr lang="en-US" sz="2200" dirty="0"/>
          </a:p>
        </p:txBody>
      </p:sp>
      <p:sp>
        <p:nvSpPr>
          <p:cNvPr id="11" name="Text 7"/>
          <p:cNvSpPr/>
          <p:nvPr/>
        </p:nvSpPr>
        <p:spPr>
          <a:xfrm>
            <a:off x="7635240" y="2194560"/>
            <a:ext cx="3840480" cy="36576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To spread globally</a:t>
            </a:r>
            <a:endParaRPr lang="en-US" sz="1250" dirty="0"/>
          </a:p>
        </p:txBody>
      </p:sp>
      <p:sp>
        <p:nvSpPr>
          <p:cNvPr id="12" name="Shape 8"/>
          <p:cNvSpPr/>
          <p:nvPr/>
        </p:nvSpPr>
        <p:spPr>
          <a:xfrm>
            <a:off x="6720840" y="2807208"/>
            <a:ext cx="4937760" cy="960120"/>
          </a:xfrm>
          <a:prstGeom prst="roundRect">
            <a:avLst>
              <a:gd name="adj" fmla="val 7619"/>
            </a:avLst>
          </a:prstGeom>
          <a:solidFill>
            <a:srgbClr val="112240">
              <a:alpha val="85000"/>
            </a:srgbClr>
          </a:solidFill>
          <a:ln w="9525">
            <a:solidFill>
              <a:srgbClr val="2E86FF">
                <a:alpha val="45000"/>
              </a:srgbClr>
            </a:solidFill>
            <a:prstDash val="solid"/>
          </a:ln>
        </p:spPr>
      </p:sp>
      <p:pic>
        <p:nvPicPr>
          <p:cNvPr id="13" name="Image 2" descr="/home/claude/assets/badges/building_fill.png">    </p:cNvPr>
          <p:cNvPicPr>
            <a:picLocks noChangeAspect="1"/>
          </p:cNvPicPr>
          <p:nvPr/>
        </p:nvPicPr>
        <p:blipFill>
          <a:blip r:embed="rId3"/>
          <a:stretch>
            <a:fillRect/>
          </a:stretch>
        </p:blipFill>
        <p:spPr>
          <a:xfrm>
            <a:off x="6931152" y="3008376"/>
            <a:ext cx="548640" cy="548640"/>
          </a:xfrm>
          <a:prstGeom prst="rect">
            <a:avLst/>
          </a:prstGeom>
        </p:spPr>
      </p:pic>
      <p:sp>
        <p:nvSpPr>
          <p:cNvPr id="14" name="Text 9"/>
          <p:cNvSpPr/>
          <p:nvPr/>
        </p:nvSpPr>
        <p:spPr>
          <a:xfrm>
            <a:off x="7635240" y="2880360"/>
            <a:ext cx="1920240" cy="457200"/>
          </a:xfrm>
          <a:prstGeom prst="rect">
            <a:avLst/>
          </a:prstGeom>
          <a:noFill/>
          <a:ln/>
        </p:spPr>
        <p:txBody>
          <a:bodyPr wrap="square" lIns="0" tIns="0" rIns="0" bIns="0" rtlCol="0" anchor="ctr"/>
          <a:lstStyle/>
          <a:p>
            <a:pPr indent="0" marL="0">
              <a:buNone/>
            </a:pPr>
            <a:r>
              <a:rPr lang="en-US" sz="2200" b="1" dirty="0">
                <a:solidFill>
                  <a:srgbClr val="3EC6FF"/>
                </a:solidFill>
                <a:latin typeface="Cambria" pitchFamily="34" charset="0"/>
                <a:ea typeface="Cambria" pitchFamily="34" charset="-122"/>
                <a:cs typeface="Cambria" pitchFamily="34" charset="-120"/>
              </a:rPr>
              <a:t>200,000+</a:t>
            </a:r>
            <a:endParaRPr lang="en-US" sz="2200" dirty="0"/>
          </a:p>
        </p:txBody>
      </p:sp>
      <p:sp>
        <p:nvSpPr>
          <p:cNvPr id="15" name="Text 10"/>
          <p:cNvSpPr/>
          <p:nvPr/>
        </p:nvSpPr>
        <p:spPr>
          <a:xfrm>
            <a:off x="7635240" y="3310128"/>
            <a:ext cx="3840480" cy="36576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Organizations affected</a:t>
            </a:r>
            <a:endParaRPr lang="en-US" sz="1250" dirty="0"/>
          </a:p>
        </p:txBody>
      </p:sp>
      <p:sp>
        <p:nvSpPr>
          <p:cNvPr id="16" name="Shape 11"/>
          <p:cNvSpPr/>
          <p:nvPr/>
        </p:nvSpPr>
        <p:spPr>
          <a:xfrm>
            <a:off x="6720840" y="3922776"/>
            <a:ext cx="4937760" cy="960120"/>
          </a:xfrm>
          <a:prstGeom prst="roundRect">
            <a:avLst>
              <a:gd name="adj" fmla="val 7619"/>
            </a:avLst>
          </a:prstGeom>
          <a:solidFill>
            <a:srgbClr val="112240">
              <a:alpha val="85000"/>
            </a:srgbClr>
          </a:solidFill>
          <a:ln w="9525">
            <a:solidFill>
              <a:srgbClr val="2E86FF">
                <a:alpha val="45000"/>
              </a:srgbClr>
            </a:solidFill>
            <a:prstDash val="solid"/>
          </a:ln>
        </p:spPr>
      </p:sp>
      <p:pic>
        <p:nvPicPr>
          <p:cNvPr id="17" name="Image 3" descr="/home/claude/assets/badges/dollar_fill.png">    </p:cNvPr>
          <p:cNvPicPr>
            <a:picLocks noChangeAspect="1"/>
          </p:cNvPicPr>
          <p:nvPr/>
        </p:nvPicPr>
        <p:blipFill>
          <a:blip r:embed="rId4"/>
          <a:stretch>
            <a:fillRect/>
          </a:stretch>
        </p:blipFill>
        <p:spPr>
          <a:xfrm>
            <a:off x="6931152" y="4123944"/>
            <a:ext cx="548640" cy="548640"/>
          </a:xfrm>
          <a:prstGeom prst="rect">
            <a:avLst/>
          </a:prstGeom>
        </p:spPr>
      </p:pic>
      <p:sp>
        <p:nvSpPr>
          <p:cNvPr id="18" name="Text 12"/>
          <p:cNvSpPr/>
          <p:nvPr/>
        </p:nvSpPr>
        <p:spPr>
          <a:xfrm>
            <a:off x="7635240" y="3995928"/>
            <a:ext cx="1920240" cy="457200"/>
          </a:xfrm>
          <a:prstGeom prst="rect">
            <a:avLst/>
          </a:prstGeom>
          <a:noFill/>
          <a:ln/>
        </p:spPr>
        <p:txBody>
          <a:bodyPr wrap="square" lIns="0" tIns="0" rIns="0" bIns="0" rtlCol="0" anchor="ctr"/>
          <a:lstStyle/>
          <a:p>
            <a:pPr indent="0" marL="0">
              <a:buNone/>
            </a:pPr>
            <a:r>
              <a:rPr lang="en-US" sz="2200" b="1" dirty="0">
                <a:solidFill>
                  <a:srgbClr val="3EC6FF"/>
                </a:solidFill>
                <a:latin typeface="Cambria" pitchFamily="34" charset="0"/>
                <a:ea typeface="Cambria" pitchFamily="34" charset="-122"/>
                <a:cs typeface="Cambria" pitchFamily="34" charset="-120"/>
              </a:rPr>
              <a:t>$4B+</a:t>
            </a:r>
            <a:endParaRPr lang="en-US" sz="2200" dirty="0"/>
          </a:p>
        </p:txBody>
      </p:sp>
      <p:sp>
        <p:nvSpPr>
          <p:cNvPr id="19" name="Text 13"/>
          <p:cNvSpPr/>
          <p:nvPr/>
        </p:nvSpPr>
        <p:spPr>
          <a:xfrm>
            <a:off x="7635240" y="4425696"/>
            <a:ext cx="3840480" cy="36576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Estimated global damages</a:t>
            </a:r>
            <a:endParaRPr lang="en-US" sz="1250" dirty="0"/>
          </a:p>
        </p:txBody>
      </p:sp>
      <p:sp>
        <p:nvSpPr>
          <p:cNvPr id="20" name="Shape 14"/>
          <p:cNvSpPr/>
          <p:nvPr/>
        </p:nvSpPr>
        <p:spPr>
          <a:xfrm>
            <a:off x="6720840" y="5038344"/>
            <a:ext cx="4937760" cy="960120"/>
          </a:xfrm>
          <a:prstGeom prst="roundRect">
            <a:avLst>
              <a:gd name="adj" fmla="val 7619"/>
            </a:avLst>
          </a:prstGeom>
          <a:solidFill>
            <a:srgbClr val="112240">
              <a:alpha val="85000"/>
            </a:srgbClr>
          </a:solidFill>
          <a:ln w="9525">
            <a:solidFill>
              <a:srgbClr val="2E86FF">
                <a:alpha val="45000"/>
              </a:srgbClr>
            </a:solidFill>
            <a:prstDash val="solid"/>
          </a:ln>
        </p:spPr>
      </p:sp>
      <p:pic>
        <p:nvPicPr>
          <p:cNvPr id="21" name="Image 4" descr="/home/claude/assets/badges/heartbeat_fill.png">    </p:cNvPr>
          <p:cNvPicPr>
            <a:picLocks noChangeAspect="1"/>
          </p:cNvPicPr>
          <p:nvPr/>
        </p:nvPicPr>
        <p:blipFill>
          <a:blip r:embed="rId5"/>
          <a:stretch>
            <a:fillRect/>
          </a:stretch>
        </p:blipFill>
        <p:spPr>
          <a:xfrm>
            <a:off x="6931152" y="5239512"/>
            <a:ext cx="548640" cy="548640"/>
          </a:xfrm>
          <a:prstGeom prst="rect">
            <a:avLst/>
          </a:prstGeom>
        </p:spPr>
      </p:pic>
      <p:sp>
        <p:nvSpPr>
          <p:cNvPr id="22" name="Text 15"/>
          <p:cNvSpPr/>
          <p:nvPr/>
        </p:nvSpPr>
        <p:spPr>
          <a:xfrm>
            <a:off x="7635240" y="5111496"/>
            <a:ext cx="1920240" cy="457200"/>
          </a:xfrm>
          <a:prstGeom prst="rect">
            <a:avLst/>
          </a:prstGeom>
          <a:noFill/>
          <a:ln/>
        </p:spPr>
        <p:txBody>
          <a:bodyPr wrap="square" lIns="0" tIns="0" rIns="0" bIns="0" rtlCol="0" anchor="ctr"/>
          <a:lstStyle/>
          <a:p>
            <a:pPr indent="0" marL="0">
              <a:buNone/>
            </a:pPr>
            <a:r>
              <a:rPr lang="en-US" sz="2200" b="1" dirty="0">
                <a:solidFill>
                  <a:srgbClr val="3EC6FF"/>
                </a:solidFill>
                <a:latin typeface="Cambria" pitchFamily="34" charset="0"/>
                <a:ea typeface="Cambria" pitchFamily="34" charset="-122"/>
                <a:cs typeface="Cambria" pitchFamily="34" charset="-120"/>
              </a:rPr>
              <a:t>80+</a:t>
            </a:r>
            <a:endParaRPr lang="en-US" sz="2200" dirty="0"/>
          </a:p>
        </p:txBody>
      </p:sp>
      <p:sp>
        <p:nvSpPr>
          <p:cNvPr id="23" name="Text 16"/>
          <p:cNvSpPr/>
          <p:nvPr/>
        </p:nvSpPr>
        <p:spPr>
          <a:xfrm>
            <a:off x="7635240" y="5541264"/>
            <a:ext cx="3840480" cy="36576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NHS trusts disrupted (UK)</a:t>
            </a:r>
            <a:endParaRPr lang="en-US" sz="1250" dirty="0"/>
          </a:p>
        </p:txBody>
      </p:sp>
      <p:sp>
        <p:nvSpPr>
          <p:cNvPr id="24" name="Text 17"/>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8FA9C9"/>
                </a:solidFill>
                <a:latin typeface="Calibri" pitchFamily="34" charset="0"/>
                <a:ea typeface="Calibri" pitchFamily="34" charset="-122"/>
                <a:cs typeface="Calibri" pitchFamily="34" charset="-120"/>
              </a:rPr>
              <a:t>WANNACRY RANSOMWARE ATTACK  |  CYBERSECURITY SEMINAR</a:t>
            </a:r>
            <a:endParaRPr lang="en-US" sz="900" dirty="0"/>
          </a:p>
        </p:txBody>
      </p:sp>
      <p:sp>
        <p:nvSpPr>
          <p:cNvPr id="25" name="Text 18"/>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8FA9C9"/>
                </a:solidFill>
                <a:latin typeface="Calibri" pitchFamily="34" charset="0"/>
                <a:ea typeface="Calibri" pitchFamily="34" charset="-122"/>
                <a:cs typeface="Calibri" pitchFamily="34" charset="-120"/>
              </a:rPr>
              <a:t>02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3EC6FF"/>
                </a:solidFill>
                <a:latin typeface="Calibri" pitchFamily="34" charset="0"/>
                <a:ea typeface="Calibri" pitchFamily="34" charset="-122"/>
                <a:cs typeface="Calibri" pitchFamily="34" charset="-120"/>
              </a:rPr>
              <a:t>BACKGROUND</a:t>
            </a:r>
            <a:endParaRPr lang="en-US" sz="1250" dirty="0"/>
          </a:p>
        </p:txBody>
      </p:sp>
      <p:sp>
        <p:nvSpPr>
          <p:cNvPr id="3" name="Text 1"/>
          <p:cNvSpPr/>
          <p:nvPr/>
        </p:nvSpPr>
        <p:spPr>
          <a:xfrm>
            <a:off x="548640" y="685800"/>
            <a:ext cx="10607040" cy="82296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The Incident Prologue</a:t>
            </a:r>
            <a:endParaRPr lang="en-US" sz="3200" dirty="0"/>
          </a:p>
        </p:txBody>
      </p:sp>
      <p:sp>
        <p:nvSpPr>
          <p:cNvPr id="4" name="Shape 2"/>
          <p:cNvSpPr/>
          <p:nvPr/>
        </p:nvSpPr>
        <p:spPr>
          <a:xfrm>
            <a:off x="548640" y="1828800"/>
            <a:ext cx="2606040" cy="3566160"/>
          </a:xfrm>
          <a:prstGeom prst="roundRect">
            <a:avLst>
              <a:gd name="adj" fmla="val 3158"/>
            </a:avLst>
          </a:prstGeom>
          <a:solidFill>
            <a:srgbClr val="112240">
              <a:alpha val="85000"/>
            </a:srgbClr>
          </a:solidFill>
          <a:ln w="9525">
            <a:solidFill>
              <a:srgbClr val="2E86FF">
                <a:alpha val="45000"/>
              </a:srgbClr>
            </a:solidFill>
            <a:prstDash val="solid"/>
          </a:ln>
        </p:spPr>
      </p:sp>
      <p:sp>
        <p:nvSpPr>
          <p:cNvPr id="5" name="Text 3"/>
          <p:cNvSpPr/>
          <p:nvPr/>
        </p:nvSpPr>
        <p:spPr>
          <a:xfrm>
            <a:off x="685800" y="1938528"/>
            <a:ext cx="548640" cy="457200"/>
          </a:xfrm>
          <a:prstGeom prst="rect">
            <a:avLst/>
          </a:prstGeom>
          <a:noFill/>
          <a:ln/>
        </p:spPr>
        <p:txBody>
          <a:bodyPr wrap="square" lIns="0" tIns="0" rIns="0" bIns="0" rtlCol="0" anchor="ctr"/>
          <a:lstStyle/>
          <a:p>
            <a:pPr indent="0" marL="0">
              <a:buNone/>
            </a:pPr>
            <a:r>
              <a:rPr lang="en-US" sz="2200" b="1" dirty="0">
                <a:solidFill>
                  <a:srgbClr val="2E86FF"/>
                </a:solidFill>
                <a:latin typeface="Cambria" pitchFamily="34" charset="0"/>
                <a:ea typeface="Cambria" pitchFamily="34" charset="-122"/>
                <a:cs typeface="Cambria" pitchFamily="34" charset="-120"/>
              </a:rPr>
              <a:t>1</a:t>
            </a:r>
            <a:endParaRPr lang="en-US" sz="2200" dirty="0"/>
          </a:p>
        </p:txBody>
      </p:sp>
      <p:pic>
        <p:nvPicPr>
          <p:cNvPr id="6" name="Image 0" descr="/home/claude/assets/badges/landmark_fill.png">    </p:cNvPr>
          <p:cNvPicPr>
            <a:picLocks noChangeAspect="1"/>
          </p:cNvPicPr>
          <p:nvPr/>
        </p:nvPicPr>
        <p:blipFill>
          <a:blip r:embed="rId1"/>
          <a:stretch>
            <a:fillRect/>
          </a:stretch>
        </p:blipFill>
        <p:spPr>
          <a:xfrm>
            <a:off x="2468880" y="1965960"/>
            <a:ext cx="502920" cy="502920"/>
          </a:xfrm>
          <a:prstGeom prst="rect">
            <a:avLst/>
          </a:prstGeom>
        </p:spPr>
      </p:pic>
      <p:sp>
        <p:nvSpPr>
          <p:cNvPr id="7" name="Text 4"/>
          <p:cNvSpPr/>
          <p:nvPr/>
        </p:nvSpPr>
        <p:spPr>
          <a:xfrm>
            <a:off x="731520" y="2606040"/>
            <a:ext cx="2240280" cy="77724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NSA Develops EternalBlue</a:t>
            </a:r>
            <a:endParaRPr lang="en-US" sz="1450" dirty="0"/>
          </a:p>
        </p:txBody>
      </p:sp>
      <p:sp>
        <p:nvSpPr>
          <p:cNvPr id="8" name="Text 5"/>
          <p:cNvSpPr/>
          <p:nvPr/>
        </p:nvSpPr>
        <p:spPr>
          <a:xfrm>
            <a:off x="731520" y="3337560"/>
            <a:ext cx="2240280" cy="1920240"/>
          </a:xfrm>
          <a:prstGeom prst="rect">
            <a:avLst/>
          </a:prstGeom>
          <a:noFill/>
          <a:ln/>
        </p:spPr>
        <p:txBody>
          <a:bodyPr wrap="square" lIns="0" tIns="0" rIns="0" bIns="0" rtlCol="0" anchor="t"/>
          <a:lstStyle/>
          <a:p>
            <a:pPr indent="0" marL="0">
              <a:lnSpc>
                <a:spcPct val="115000"/>
              </a:lnSpc>
              <a:buNone/>
            </a:pPr>
            <a:r>
              <a:rPr lang="en-US" sz="1150" dirty="0">
                <a:solidFill>
                  <a:srgbClr val="CADCFC"/>
                </a:solidFill>
                <a:latin typeface="Calibri" pitchFamily="34" charset="0"/>
                <a:ea typeface="Calibri" pitchFamily="34" charset="-122"/>
                <a:cs typeface="Calibri" pitchFamily="34" charset="-120"/>
              </a:rPr>
              <a:t>The U.S. NSA discovers and weaponizes an SMBv1 protocol flaw for surveillance use.</a:t>
            </a:r>
            <a:endParaRPr lang="en-US" sz="1150" dirty="0"/>
          </a:p>
        </p:txBody>
      </p:sp>
      <p:pic>
        <p:nvPicPr>
          <p:cNvPr id="9" name="Image 1" descr="/home/claude/assets/badges/arrowRight_outline.png">    </p:cNvPr>
          <p:cNvPicPr>
            <a:picLocks noChangeAspect="1"/>
          </p:cNvPicPr>
          <p:nvPr/>
        </p:nvPicPr>
        <p:blipFill>
          <a:blip r:embed="rId2"/>
          <a:stretch>
            <a:fillRect/>
          </a:stretch>
        </p:blipFill>
        <p:spPr>
          <a:xfrm>
            <a:off x="3067812" y="3410712"/>
            <a:ext cx="402336" cy="402336"/>
          </a:xfrm>
          <a:prstGeom prst="rect">
            <a:avLst/>
          </a:prstGeom>
        </p:spPr>
      </p:pic>
      <p:sp>
        <p:nvSpPr>
          <p:cNvPr id="10" name="Shape 6"/>
          <p:cNvSpPr/>
          <p:nvPr/>
        </p:nvSpPr>
        <p:spPr>
          <a:xfrm>
            <a:off x="3383280" y="1828800"/>
            <a:ext cx="2606040" cy="3566160"/>
          </a:xfrm>
          <a:prstGeom prst="roundRect">
            <a:avLst>
              <a:gd name="adj" fmla="val 3158"/>
            </a:avLst>
          </a:prstGeom>
          <a:solidFill>
            <a:srgbClr val="112240">
              <a:alpha val="85000"/>
            </a:srgbClr>
          </a:solidFill>
          <a:ln w="9525">
            <a:solidFill>
              <a:srgbClr val="2E86FF">
                <a:alpha val="45000"/>
              </a:srgbClr>
            </a:solidFill>
            <a:prstDash val="solid"/>
          </a:ln>
        </p:spPr>
      </p:sp>
      <p:sp>
        <p:nvSpPr>
          <p:cNvPr id="11" name="Text 7"/>
          <p:cNvSpPr/>
          <p:nvPr/>
        </p:nvSpPr>
        <p:spPr>
          <a:xfrm>
            <a:off x="3520440" y="1938528"/>
            <a:ext cx="548640" cy="457200"/>
          </a:xfrm>
          <a:prstGeom prst="rect">
            <a:avLst/>
          </a:prstGeom>
          <a:noFill/>
          <a:ln/>
        </p:spPr>
        <p:txBody>
          <a:bodyPr wrap="square" lIns="0" tIns="0" rIns="0" bIns="0" rtlCol="0" anchor="ctr"/>
          <a:lstStyle/>
          <a:p>
            <a:pPr indent="0" marL="0">
              <a:buNone/>
            </a:pPr>
            <a:r>
              <a:rPr lang="en-US" sz="2200" b="1" dirty="0">
                <a:solidFill>
                  <a:srgbClr val="2E86FF"/>
                </a:solidFill>
                <a:latin typeface="Cambria" pitchFamily="34" charset="0"/>
                <a:ea typeface="Cambria" pitchFamily="34" charset="-122"/>
                <a:cs typeface="Cambria" pitchFamily="34" charset="-120"/>
              </a:rPr>
              <a:t>2</a:t>
            </a:r>
            <a:endParaRPr lang="en-US" sz="2200" dirty="0"/>
          </a:p>
        </p:txBody>
      </p:sp>
      <p:pic>
        <p:nvPicPr>
          <p:cNvPr id="12" name="Image 2" descr="/home/claude/assets/badges/unlock_fill.png">    </p:cNvPr>
          <p:cNvPicPr>
            <a:picLocks noChangeAspect="1"/>
          </p:cNvPicPr>
          <p:nvPr/>
        </p:nvPicPr>
        <p:blipFill>
          <a:blip r:embed="rId3"/>
          <a:stretch>
            <a:fillRect/>
          </a:stretch>
        </p:blipFill>
        <p:spPr>
          <a:xfrm>
            <a:off x="5303520" y="1965960"/>
            <a:ext cx="502920" cy="502920"/>
          </a:xfrm>
          <a:prstGeom prst="rect">
            <a:avLst/>
          </a:prstGeom>
        </p:spPr>
      </p:pic>
      <p:sp>
        <p:nvSpPr>
          <p:cNvPr id="13" name="Text 8"/>
          <p:cNvSpPr/>
          <p:nvPr/>
        </p:nvSpPr>
        <p:spPr>
          <a:xfrm>
            <a:off x="3566160" y="2606040"/>
            <a:ext cx="2240280" cy="77724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Shadow Brokers Leak</a:t>
            </a:r>
            <a:endParaRPr lang="en-US" sz="1450" dirty="0"/>
          </a:p>
        </p:txBody>
      </p:sp>
      <p:sp>
        <p:nvSpPr>
          <p:cNvPr id="14" name="Text 9"/>
          <p:cNvSpPr/>
          <p:nvPr/>
        </p:nvSpPr>
        <p:spPr>
          <a:xfrm>
            <a:off x="3566160" y="3337560"/>
            <a:ext cx="2240280" cy="1920240"/>
          </a:xfrm>
          <a:prstGeom prst="rect">
            <a:avLst/>
          </a:prstGeom>
          <a:noFill/>
          <a:ln/>
        </p:spPr>
        <p:txBody>
          <a:bodyPr wrap="square" lIns="0" tIns="0" rIns="0" bIns="0" rtlCol="0" anchor="t"/>
          <a:lstStyle/>
          <a:p>
            <a:pPr indent="0" marL="0">
              <a:lnSpc>
                <a:spcPct val="115000"/>
              </a:lnSpc>
              <a:buNone/>
            </a:pPr>
            <a:r>
              <a:rPr lang="en-US" sz="1150" dirty="0">
                <a:solidFill>
                  <a:srgbClr val="CADCFC"/>
                </a:solidFill>
                <a:latin typeface="Calibri" pitchFamily="34" charset="0"/>
                <a:ea typeface="Calibri" pitchFamily="34" charset="-122"/>
                <a:cs typeface="Calibri" pitchFamily="34" charset="-120"/>
              </a:rPr>
              <a:t>In April 2017, the hacker group "Shadow Brokers" publicly leaks the EternalBlue exploit.</a:t>
            </a:r>
            <a:endParaRPr lang="en-US" sz="1150" dirty="0"/>
          </a:p>
        </p:txBody>
      </p:sp>
      <p:pic>
        <p:nvPicPr>
          <p:cNvPr id="15" name="Image 3" descr="/home/claude/assets/badges/arrowRight_outline.png">    </p:cNvPr>
          <p:cNvPicPr>
            <a:picLocks noChangeAspect="1"/>
          </p:cNvPicPr>
          <p:nvPr/>
        </p:nvPicPr>
        <p:blipFill>
          <a:blip r:embed="rId4"/>
          <a:stretch>
            <a:fillRect/>
          </a:stretch>
        </p:blipFill>
        <p:spPr>
          <a:xfrm>
            <a:off x="5902452" y="3410712"/>
            <a:ext cx="402336" cy="402336"/>
          </a:xfrm>
          <a:prstGeom prst="rect">
            <a:avLst/>
          </a:prstGeom>
        </p:spPr>
      </p:pic>
      <p:sp>
        <p:nvSpPr>
          <p:cNvPr id="16" name="Shape 10"/>
          <p:cNvSpPr/>
          <p:nvPr/>
        </p:nvSpPr>
        <p:spPr>
          <a:xfrm>
            <a:off x="6217920" y="1828800"/>
            <a:ext cx="2606040" cy="3566160"/>
          </a:xfrm>
          <a:prstGeom prst="roundRect">
            <a:avLst>
              <a:gd name="adj" fmla="val 3158"/>
            </a:avLst>
          </a:prstGeom>
          <a:solidFill>
            <a:srgbClr val="112240">
              <a:alpha val="85000"/>
            </a:srgbClr>
          </a:solidFill>
          <a:ln w="9525">
            <a:solidFill>
              <a:srgbClr val="2E86FF">
                <a:alpha val="45000"/>
              </a:srgbClr>
            </a:solidFill>
            <a:prstDash val="solid"/>
          </a:ln>
        </p:spPr>
      </p:sp>
      <p:sp>
        <p:nvSpPr>
          <p:cNvPr id="17" name="Text 11"/>
          <p:cNvSpPr/>
          <p:nvPr/>
        </p:nvSpPr>
        <p:spPr>
          <a:xfrm>
            <a:off x="6355080" y="1938528"/>
            <a:ext cx="548640" cy="457200"/>
          </a:xfrm>
          <a:prstGeom prst="rect">
            <a:avLst/>
          </a:prstGeom>
          <a:noFill/>
          <a:ln/>
        </p:spPr>
        <p:txBody>
          <a:bodyPr wrap="square" lIns="0" tIns="0" rIns="0" bIns="0" rtlCol="0" anchor="ctr"/>
          <a:lstStyle/>
          <a:p>
            <a:pPr indent="0" marL="0">
              <a:buNone/>
            </a:pPr>
            <a:r>
              <a:rPr lang="en-US" sz="2200" b="1" dirty="0">
                <a:solidFill>
                  <a:srgbClr val="2E86FF"/>
                </a:solidFill>
                <a:latin typeface="Cambria" pitchFamily="34" charset="0"/>
                <a:ea typeface="Cambria" pitchFamily="34" charset="-122"/>
                <a:cs typeface="Cambria" pitchFamily="34" charset="-120"/>
              </a:rPr>
              <a:t>3</a:t>
            </a:r>
            <a:endParaRPr lang="en-US" sz="2200" dirty="0"/>
          </a:p>
        </p:txBody>
      </p:sp>
      <p:pic>
        <p:nvPicPr>
          <p:cNvPr id="18" name="Image 4" descr="/home/claude/assets/badges/wrench_fill.png">    </p:cNvPr>
          <p:cNvPicPr>
            <a:picLocks noChangeAspect="1"/>
          </p:cNvPicPr>
          <p:nvPr/>
        </p:nvPicPr>
        <p:blipFill>
          <a:blip r:embed="rId5"/>
          <a:stretch>
            <a:fillRect/>
          </a:stretch>
        </p:blipFill>
        <p:spPr>
          <a:xfrm>
            <a:off x="8138160" y="1965960"/>
            <a:ext cx="502920" cy="502920"/>
          </a:xfrm>
          <a:prstGeom prst="rect">
            <a:avLst/>
          </a:prstGeom>
        </p:spPr>
      </p:pic>
      <p:sp>
        <p:nvSpPr>
          <p:cNvPr id="19" name="Text 12"/>
          <p:cNvSpPr/>
          <p:nvPr/>
        </p:nvSpPr>
        <p:spPr>
          <a:xfrm>
            <a:off x="6400800" y="2606040"/>
            <a:ext cx="2240280" cy="77724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Microsoft Issues MS17-010</a:t>
            </a:r>
            <a:endParaRPr lang="en-US" sz="1450" dirty="0"/>
          </a:p>
        </p:txBody>
      </p:sp>
      <p:sp>
        <p:nvSpPr>
          <p:cNvPr id="20" name="Text 13"/>
          <p:cNvSpPr/>
          <p:nvPr/>
        </p:nvSpPr>
        <p:spPr>
          <a:xfrm>
            <a:off x="6400800" y="3337560"/>
            <a:ext cx="2240280" cy="1920240"/>
          </a:xfrm>
          <a:prstGeom prst="rect">
            <a:avLst/>
          </a:prstGeom>
          <a:noFill/>
          <a:ln/>
        </p:spPr>
        <p:txBody>
          <a:bodyPr wrap="square" lIns="0" tIns="0" rIns="0" bIns="0" rtlCol="0" anchor="t"/>
          <a:lstStyle/>
          <a:p>
            <a:pPr indent="0" marL="0">
              <a:lnSpc>
                <a:spcPct val="115000"/>
              </a:lnSpc>
              <a:buNone/>
            </a:pPr>
            <a:r>
              <a:rPr lang="en-US" sz="1150" dirty="0">
                <a:solidFill>
                  <a:srgbClr val="CADCFC"/>
                </a:solidFill>
                <a:latin typeface="Calibri" pitchFamily="34" charset="0"/>
                <a:ea typeface="Calibri" pitchFamily="34" charset="-122"/>
                <a:cs typeface="Calibri" pitchFamily="34" charset="-120"/>
              </a:rPr>
              <a:t>Microsoft had released a patch a month earlier, but adoption across organizations was slow.</a:t>
            </a:r>
            <a:endParaRPr lang="en-US" sz="1150" dirty="0"/>
          </a:p>
        </p:txBody>
      </p:sp>
      <p:pic>
        <p:nvPicPr>
          <p:cNvPr id="21" name="Image 5" descr="/home/claude/assets/badges/arrowRight_outline.png">    </p:cNvPr>
          <p:cNvPicPr>
            <a:picLocks noChangeAspect="1"/>
          </p:cNvPicPr>
          <p:nvPr/>
        </p:nvPicPr>
        <p:blipFill>
          <a:blip r:embed="rId6"/>
          <a:stretch>
            <a:fillRect/>
          </a:stretch>
        </p:blipFill>
        <p:spPr>
          <a:xfrm>
            <a:off x="8737092" y="3410712"/>
            <a:ext cx="402336" cy="402336"/>
          </a:xfrm>
          <a:prstGeom prst="rect">
            <a:avLst/>
          </a:prstGeom>
        </p:spPr>
      </p:pic>
      <p:sp>
        <p:nvSpPr>
          <p:cNvPr id="22" name="Shape 14"/>
          <p:cNvSpPr/>
          <p:nvPr/>
        </p:nvSpPr>
        <p:spPr>
          <a:xfrm>
            <a:off x="9052560" y="1828800"/>
            <a:ext cx="2606040" cy="3566160"/>
          </a:xfrm>
          <a:prstGeom prst="roundRect">
            <a:avLst>
              <a:gd name="adj" fmla="val 3158"/>
            </a:avLst>
          </a:prstGeom>
          <a:solidFill>
            <a:srgbClr val="112240">
              <a:alpha val="85000"/>
            </a:srgbClr>
          </a:solidFill>
          <a:ln w="9525">
            <a:solidFill>
              <a:srgbClr val="2E86FF">
                <a:alpha val="45000"/>
              </a:srgbClr>
            </a:solidFill>
            <a:prstDash val="solid"/>
          </a:ln>
        </p:spPr>
      </p:sp>
      <p:sp>
        <p:nvSpPr>
          <p:cNvPr id="23" name="Text 15"/>
          <p:cNvSpPr/>
          <p:nvPr/>
        </p:nvSpPr>
        <p:spPr>
          <a:xfrm>
            <a:off x="9189720" y="1938528"/>
            <a:ext cx="548640" cy="457200"/>
          </a:xfrm>
          <a:prstGeom prst="rect">
            <a:avLst/>
          </a:prstGeom>
          <a:noFill/>
          <a:ln/>
        </p:spPr>
        <p:txBody>
          <a:bodyPr wrap="square" lIns="0" tIns="0" rIns="0" bIns="0" rtlCol="0" anchor="ctr"/>
          <a:lstStyle/>
          <a:p>
            <a:pPr indent="0" marL="0">
              <a:buNone/>
            </a:pPr>
            <a:r>
              <a:rPr lang="en-US" sz="2200" b="1" dirty="0">
                <a:solidFill>
                  <a:srgbClr val="2E86FF"/>
                </a:solidFill>
                <a:latin typeface="Cambria" pitchFamily="34" charset="0"/>
                <a:ea typeface="Cambria" pitchFamily="34" charset="-122"/>
                <a:cs typeface="Cambria" pitchFamily="34" charset="-120"/>
              </a:rPr>
              <a:t>4</a:t>
            </a:r>
            <a:endParaRPr lang="en-US" sz="2200" dirty="0"/>
          </a:p>
        </p:txBody>
      </p:sp>
      <p:pic>
        <p:nvPicPr>
          <p:cNvPr id="24" name="Image 6" descr="/home/claude/assets/badges/worm_fill.png">    </p:cNvPr>
          <p:cNvPicPr>
            <a:picLocks noChangeAspect="1"/>
          </p:cNvPicPr>
          <p:nvPr/>
        </p:nvPicPr>
        <p:blipFill>
          <a:blip r:embed="rId7"/>
          <a:stretch>
            <a:fillRect/>
          </a:stretch>
        </p:blipFill>
        <p:spPr>
          <a:xfrm>
            <a:off x="10972800" y="1965960"/>
            <a:ext cx="502920" cy="502920"/>
          </a:xfrm>
          <a:prstGeom prst="rect">
            <a:avLst/>
          </a:prstGeom>
        </p:spPr>
      </p:pic>
      <p:sp>
        <p:nvSpPr>
          <p:cNvPr id="25" name="Text 16"/>
          <p:cNvSpPr/>
          <p:nvPr/>
        </p:nvSpPr>
        <p:spPr>
          <a:xfrm>
            <a:off x="9235440" y="2606040"/>
            <a:ext cx="2240280" cy="77724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A Cryptoworm Emerges</a:t>
            </a:r>
            <a:endParaRPr lang="en-US" sz="1450" dirty="0"/>
          </a:p>
        </p:txBody>
      </p:sp>
      <p:sp>
        <p:nvSpPr>
          <p:cNvPr id="26" name="Text 17"/>
          <p:cNvSpPr/>
          <p:nvPr/>
        </p:nvSpPr>
        <p:spPr>
          <a:xfrm>
            <a:off x="9235440" y="3337560"/>
            <a:ext cx="2240280" cy="1920240"/>
          </a:xfrm>
          <a:prstGeom prst="rect">
            <a:avLst/>
          </a:prstGeom>
          <a:noFill/>
          <a:ln/>
        </p:spPr>
        <p:txBody>
          <a:bodyPr wrap="square" lIns="0" tIns="0" rIns="0" bIns="0" rtlCol="0" anchor="t"/>
          <a:lstStyle/>
          <a:p>
            <a:pPr indent="0" marL="0">
              <a:lnSpc>
                <a:spcPct val="115000"/>
              </a:lnSpc>
              <a:buNone/>
            </a:pPr>
            <a:r>
              <a:rPr lang="en-US" sz="1150" dirty="0">
                <a:solidFill>
                  <a:srgbClr val="CADCFC"/>
                </a:solidFill>
                <a:latin typeface="Calibri" pitchFamily="34" charset="0"/>
                <a:ea typeface="Calibri" pitchFamily="34" charset="-122"/>
                <a:cs typeface="Calibri" pitchFamily="34" charset="-120"/>
              </a:rPr>
              <a:t>Unknown attackers weaponize EternalBlue into WannaCry — a self-spreading ransomware worm.</a:t>
            </a:r>
            <a:endParaRPr lang="en-US" sz="1150" dirty="0"/>
          </a:p>
        </p:txBody>
      </p:sp>
      <p:sp>
        <p:nvSpPr>
          <p:cNvPr id="27" name="Text 18"/>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8FA9C9"/>
                </a:solidFill>
                <a:latin typeface="Calibri" pitchFamily="34" charset="0"/>
                <a:ea typeface="Calibri" pitchFamily="34" charset="-122"/>
                <a:cs typeface="Calibri" pitchFamily="34" charset="-120"/>
              </a:rPr>
              <a:t>WANNACRY RANSOMWARE ATTACK  |  CYBERSECURITY SEMINAR</a:t>
            </a:r>
            <a:endParaRPr lang="en-US" sz="900" dirty="0"/>
          </a:p>
        </p:txBody>
      </p:sp>
      <p:sp>
        <p:nvSpPr>
          <p:cNvPr id="28" name="Text 19"/>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8FA9C9"/>
                </a:solidFill>
                <a:latin typeface="Calibri" pitchFamily="34" charset="0"/>
                <a:ea typeface="Calibri" pitchFamily="34" charset="-122"/>
                <a:cs typeface="Calibri" pitchFamily="34" charset="-120"/>
              </a:rPr>
              <a:t>03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3EC6FF"/>
                </a:solidFill>
                <a:latin typeface="Calibri" pitchFamily="34" charset="0"/>
                <a:ea typeface="Calibri" pitchFamily="34" charset="-122"/>
                <a:cs typeface="Calibri" pitchFamily="34" charset="-120"/>
              </a:rPr>
              <a:t>CORE CONCEPTS</a:t>
            </a:r>
            <a:endParaRPr lang="en-US" sz="1250" dirty="0"/>
          </a:p>
        </p:txBody>
      </p:sp>
      <p:sp>
        <p:nvSpPr>
          <p:cNvPr id="3" name="Text 1"/>
          <p:cNvSpPr/>
          <p:nvPr/>
        </p:nvSpPr>
        <p:spPr>
          <a:xfrm>
            <a:off x="548640" y="685800"/>
            <a:ext cx="10607040" cy="82296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Understanding Ransomware</a:t>
            </a:r>
            <a:endParaRPr lang="en-US" sz="3200" dirty="0"/>
          </a:p>
        </p:txBody>
      </p:sp>
      <p:sp>
        <p:nvSpPr>
          <p:cNvPr id="4" name="Shape 2"/>
          <p:cNvSpPr/>
          <p:nvPr/>
        </p:nvSpPr>
        <p:spPr>
          <a:xfrm>
            <a:off x="548640" y="1691640"/>
            <a:ext cx="5212080" cy="4434840"/>
          </a:xfrm>
          <a:prstGeom prst="roundRect">
            <a:avLst>
              <a:gd name="adj" fmla="val 1649"/>
            </a:avLst>
          </a:prstGeom>
          <a:solidFill>
            <a:srgbClr val="112240">
              <a:alpha val="85000"/>
            </a:srgbClr>
          </a:solidFill>
          <a:ln w="9525">
            <a:solidFill>
              <a:srgbClr val="2E86FF">
                <a:alpha val="45000"/>
              </a:srgbClr>
            </a:solidFill>
            <a:prstDash val="solid"/>
          </a:ln>
          <a:effectLst>
            <a:outerShdw sx="100000" sy="100000" kx="0" ky="0" algn="bl" rotWithShape="0" blurRad="101600" dist="38100" dir="5400000">
              <a:srgbClr val="000000">
                <a:alpha val="35000"/>
              </a:srgbClr>
            </a:outerShdw>
          </a:effectLst>
        </p:spPr>
      </p:sp>
      <p:pic>
        <p:nvPicPr>
          <p:cNvPr id="5" name="Image 0" descr="/home/claude/assets/badges/lock_fill.png">    </p:cNvPr>
          <p:cNvPicPr>
            <a:picLocks noChangeAspect="1"/>
          </p:cNvPicPr>
          <p:nvPr/>
        </p:nvPicPr>
        <p:blipFill>
          <a:blip r:embed="rId1"/>
          <a:stretch>
            <a:fillRect/>
          </a:stretch>
        </p:blipFill>
        <p:spPr>
          <a:xfrm>
            <a:off x="749808" y="1892808"/>
            <a:ext cx="457200" cy="457200"/>
          </a:xfrm>
          <a:prstGeom prst="rect">
            <a:avLst/>
          </a:prstGeom>
        </p:spPr>
      </p:pic>
      <p:sp>
        <p:nvSpPr>
          <p:cNvPr id="6" name="Text 3"/>
          <p:cNvSpPr/>
          <p:nvPr/>
        </p:nvSpPr>
        <p:spPr>
          <a:xfrm>
            <a:off x="1371600" y="1874520"/>
            <a:ext cx="420624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What Is Ransomware?</a:t>
            </a:r>
            <a:endParaRPr lang="en-US" sz="1600" dirty="0"/>
          </a:p>
        </p:txBody>
      </p:sp>
      <p:sp>
        <p:nvSpPr>
          <p:cNvPr id="7" name="Text 4"/>
          <p:cNvSpPr/>
          <p:nvPr/>
        </p:nvSpPr>
        <p:spPr>
          <a:xfrm>
            <a:off x="777240" y="2468880"/>
            <a:ext cx="4754880" cy="3520440"/>
          </a:xfrm>
          <a:prstGeom prst="rect">
            <a:avLst/>
          </a:prstGeom>
          <a:noFill/>
          <a:ln/>
        </p:spPr>
        <p:txBody>
          <a:bodyPr wrap="square" lIns="0" tIns="0" rIns="0" bIns="0" rtlCol="0" anchor="t"/>
          <a:lstStyle/>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Malicious software that blocks access to data or systems</a:t>
            </a:r>
            <a:endParaRPr lang="en-US" sz="1350" dirty="0"/>
          </a:p>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Attacker demands payment (ransom) to restore access</a:t>
            </a:r>
            <a:endParaRPr lang="en-US" sz="1350" dirty="0"/>
          </a:p>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Typically spreads via phishing, malicious links, or exploits</a:t>
            </a:r>
            <a:endParaRPr lang="en-US" sz="1350" dirty="0"/>
          </a:p>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Encrypts files using strong cryptographic algorithms</a:t>
            </a:r>
            <a:endParaRPr lang="en-US" sz="1350" dirty="0"/>
          </a:p>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Often paired with a countdown timer to pressure victims</a:t>
            </a:r>
            <a:endParaRPr lang="en-US" sz="1350" dirty="0"/>
          </a:p>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Payment usually demanded in cryptocurrency (e.g. Bitcoin)</a:t>
            </a:r>
            <a:endParaRPr lang="en-US" sz="1350" dirty="0"/>
          </a:p>
        </p:txBody>
      </p:sp>
      <p:sp>
        <p:nvSpPr>
          <p:cNvPr id="8" name="Shape 5"/>
          <p:cNvSpPr/>
          <p:nvPr/>
        </p:nvSpPr>
        <p:spPr>
          <a:xfrm>
            <a:off x="5989320" y="1691640"/>
            <a:ext cx="2011680" cy="4434840"/>
          </a:xfrm>
          <a:prstGeom prst="roundRect">
            <a:avLst>
              <a:gd name="adj" fmla="val 4091"/>
            </a:avLst>
          </a:prstGeom>
          <a:solidFill>
            <a:srgbClr val="112240">
              <a:alpha val="88000"/>
            </a:srgbClr>
          </a:solidFill>
          <a:ln w="9525">
            <a:solidFill>
              <a:srgbClr val="2E86FF">
                <a:alpha val="45000"/>
              </a:srgbClr>
            </a:solidFill>
            <a:prstDash val="solid"/>
          </a:ln>
        </p:spPr>
      </p:sp>
      <p:pic>
        <p:nvPicPr>
          <p:cNvPr id="9" name="Image 1" descr="/home/claude/assets/badges/lock_fill.png">    </p:cNvPr>
          <p:cNvPicPr>
            <a:picLocks noChangeAspect="1"/>
          </p:cNvPicPr>
          <p:nvPr/>
        </p:nvPicPr>
        <p:blipFill>
          <a:blip r:embed="rId2"/>
          <a:stretch>
            <a:fillRect/>
          </a:stretch>
        </p:blipFill>
        <p:spPr>
          <a:xfrm>
            <a:off x="6720840" y="1920240"/>
            <a:ext cx="548640" cy="548640"/>
          </a:xfrm>
          <a:prstGeom prst="rect">
            <a:avLst/>
          </a:prstGeom>
        </p:spPr>
      </p:pic>
      <p:sp>
        <p:nvSpPr>
          <p:cNvPr id="10" name="Text 6"/>
          <p:cNvSpPr/>
          <p:nvPr/>
        </p:nvSpPr>
        <p:spPr>
          <a:xfrm>
            <a:off x="6126480" y="2606040"/>
            <a:ext cx="1737360" cy="685800"/>
          </a:xfrm>
          <a:prstGeom prst="rect">
            <a:avLst/>
          </a:prstGeom>
          <a:noFill/>
          <a:ln/>
        </p:spPr>
        <p:txBody>
          <a:bodyPr wrap="square" lIns="0" tIns="0" rIns="0" bIns="0" rtlCol="0" anchor="t"/>
          <a:lstStyle/>
          <a:p>
            <a:pPr algn="ctr" indent="0" marL="0">
              <a:buNone/>
            </a:pPr>
            <a:r>
              <a:rPr lang="en-US" sz="1300" b="1" dirty="0">
                <a:solidFill>
                  <a:srgbClr val="FFFFFF"/>
                </a:solidFill>
                <a:latin typeface="Cambria" pitchFamily="34" charset="0"/>
                <a:ea typeface="Cambria" pitchFamily="34" charset="-122"/>
                <a:cs typeface="Cambria" pitchFamily="34" charset="-120"/>
              </a:rPr>
              <a:t>Locker Ransomware</a:t>
            </a:r>
            <a:endParaRPr lang="en-US" sz="1300" dirty="0"/>
          </a:p>
        </p:txBody>
      </p:sp>
      <p:sp>
        <p:nvSpPr>
          <p:cNvPr id="11" name="Text 7"/>
          <p:cNvSpPr/>
          <p:nvPr/>
        </p:nvSpPr>
        <p:spPr>
          <a:xfrm>
            <a:off x="6153912" y="3291840"/>
            <a:ext cx="1682496" cy="2651760"/>
          </a:xfrm>
          <a:prstGeom prst="rect">
            <a:avLst/>
          </a:prstGeom>
          <a:noFill/>
          <a:ln/>
        </p:spPr>
        <p:txBody>
          <a:bodyPr wrap="square" lIns="0" tIns="0" rIns="0" bIns="0" rtlCol="0" anchor="t"/>
          <a:lstStyle/>
          <a:p>
            <a:pPr algn="ctr" indent="0" marL="0">
              <a:lnSpc>
                <a:spcPct val="115000"/>
              </a:lnSpc>
              <a:buNone/>
            </a:pPr>
            <a:r>
              <a:rPr lang="en-US" sz="1080" dirty="0">
                <a:solidFill>
                  <a:srgbClr val="CADCFC"/>
                </a:solidFill>
                <a:latin typeface="Calibri" pitchFamily="34" charset="0"/>
                <a:ea typeface="Calibri" pitchFamily="34" charset="-122"/>
                <a:cs typeface="Calibri" pitchFamily="34" charset="-120"/>
              </a:rPr>
              <a:t>Locks the screen or device interface entirely, blocking all access without encrypting files.</a:t>
            </a:r>
            <a:endParaRPr lang="en-US" sz="1080" dirty="0"/>
          </a:p>
        </p:txBody>
      </p:sp>
      <p:sp>
        <p:nvSpPr>
          <p:cNvPr id="12" name="Shape 8"/>
          <p:cNvSpPr/>
          <p:nvPr/>
        </p:nvSpPr>
        <p:spPr>
          <a:xfrm>
            <a:off x="8183880" y="1691640"/>
            <a:ext cx="2011680" cy="4434840"/>
          </a:xfrm>
          <a:prstGeom prst="roundRect">
            <a:avLst>
              <a:gd name="adj" fmla="val 4091"/>
            </a:avLst>
          </a:prstGeom>
          <a:solidFill>
            <a:srgbClr val="112240">
              <a:alpha val="88000"/>
            </a:srgbClr>
          </a:solidFill>
          <a:ln w="9525">
            <a:solidFill>
              <a:srgbClr val="2E86FF">
                <a:alpha val="45000"/>
              </a:srgbClr>
            </a:solidFill>
            <a:prstDash val="solid"/>
          </a:ln>
        </p:spPr>
      </p:sp>
      <p:pic>
        <p:nvPicPr>
          <p:cNvPr id="13" name="Image 2" descr="/home/claude/assets/badges/fileShield_fill.png">    </p:cNvPr>
          <p:cNvPicPr>
            <a:picLocks noChangeAspect="1"/>
          </p:cNvPicPr>
          <p:nvPr/>
        </p:nvPicPr>
        <p:blipFill>
          <a:blip r:embed="rId3"/>
          <a:stretch>
            <a:fillRect/>
          </a:stretch>
        </p:blipFill>
        <p:spPr>
          <a:xfrm>
            <a:off x="8915400" y="1920240"/>
            <a:ext cx="548640" cy="548640"/>
          </a:xfrm>
          <a:prstGeom prst="rect">
            <a:avLst/>
          </a:prstGeom>
        </p:spPr>
      </p:pic>
      <p:sp>
        <p:nvSpPr>
          <p:cNvPr id="14" name="Text 9"/>
          <p:cNvSpPr/>
          <p:nvPr/>
        </p:nvSpPr>
        <p:spPr>
          <a:xfrm>
            <a:off x="8321040" y="2606040"/>
            <a:ext cx="1737360" cy="685800"/>
          </a:xfrm>
          <a:prstGeom prst="rect">
            <a:avLst/>
          </a:prstGeom>
          <a:noFill/>
          <a:ln/>
        </p:spPr>
        <p:txBody>
          <a:bodyPr wrap="square" lIns="0" tIns="0" rIns="0" bIns="0" rtlCol="0" anchor="t"/>
          <a:lstStyle/>
          <a:p>
            <a:pPr algn="ctr" indent="0" marL="0">
              <a:buNone/>
            </a:pPr>
            <a:r>
              <a:rPr lang="en-US" sz="1300" b="1" dirty="0">
                <a:solidFill>
                  <a:srgbClr val="FFFFFF"/>
                </a:solidFill>
                <a:latin typeface="Cambria" pitchFamily="34" charset="0"/>
                <a:ea typeface="Cambria" pitchFamily="34" charset="-122"/>
                <a:cs typeface="Cambria" pitchFamily="34" charset="-120"/>
              </a:rPr>
              <a:t>Crypto Ransomware</a:t>
            </a:r>
            <a:endParaRPr lang="en-US" sz="1300" dirty="0"/>
          </a:p>
        </p:txBody>
      </p:sp>
      <p:sp>
        <p:nvSpPr>
          <p:cNvPr id="15" name="Text 10"/>
          <p:cNvSpPr/>
          <p:nvPr/>
        </p:nvSpPr>
        <p:spPr>
          <a:xfrm>
            <a:off x="8348472" y="3291840"/>
            <a:ext cx="1682496" cy="2651760"/>
          </a:xfrm>
          <a:prstGeom prst="rect">
            <a:avLst/>
          </a:prstGeom>
          <a:noFill/>
          <a:ln/>
        </p:spPr>
        <p:txBody>
          <a:bodyPr wrap="square" lIns="0" tIns="0" rIns="0" bIns="0" rtlCol="0" anchor="t"/>
          <a:lstStyle/>
          <a:p>
            <a:pPr algn="ctr" indent="0" marL="0">
              <a:lnSpc>
                <a:spcPct val="115000"/>
              </a:lnSpc>
              <a:buNone/>
            </a:pPr>
            <a:r>
              <a:rPr lang="en-US" sz="1080" dirty="0">
                <a:solidFill>
                  <a:srgbClr val="CADCFC"/>
                </a:solidFill>
                <a:latin typeface="Calibri" pitchFamily="34" charset="0"/>
                <a:ea typeface="Calibri" pitchFamily="34" charset="-122"/>
                <a:cs typeface="Calibri" pitchFamily="34" charset="-120"/>
              </a:rPr>
              <a:t>Encrypts individual files and folders, leaving the system usable but data inaccessible.</a:t>
            </a:r>
            <a:endParaRPr lang="en-US" sz="1080" dirty="0"/>
          </a:p>
        </p:txBody>
      </p:sp>
      <p:sp>
        <p:nvSpPr>
          <p:cNvPr id="16" name="Shape 11"/>
          <p:cNvSpPr/>
          <p:nvPr/>
        </p:nvSpPr>
        <p:spPr>
          <a:xfrm>
            <a:off x="10378440" y="1691640"/>
            <a:ext cx="2011680" cy="4434840"/>
          </a:xfrm>
          <a:prstGeom prst="roundRect">
            <a:avLst>
              <a:gd name="adj" fmla="val 4091"/>
            </a:avLst>
          </a:prstGeom>
          <a:solidFill>
            <a:srgbClr val="16304F">
              <a:alpha val="88000"/>
            </a:srgbClr>
          </a:solidFill>
          <a:ln w="15875">
            <a:solidFill>
              <a:srgbClr val="3EC6FF">
                <a:alpha val="75000"/>
              </a:srgbClr>
            </a:solidFill>
            <a:prstDash val="solid"/>
          </a:ln>
        </p:spPr>
      </p:sp>
      <p:pic>
        <p:nvPicPr>
          <p:cNvPr id="17" name="Image 3" descr="/home/claude/assets/badges/worm_fill.png">    </p:cNvPr>
          <p:cNvPicPr>
            <a:picLocks noChangeAspect="1"/>
          </p:cNvPicPr>
          <p:nvPr/>
        </p:nvPicPr>
        <p:blipFill>
          <a:blip r:embed="rId4"/>
          <a:stretch>
            <a:fillRect/>
          </a:stretch>
        </p:blipFill>
        <p:spPr>
          <a:xfrm>
            <a:off x="11109960" y="1920240"/>
            <a:ext cx="548640" cy="548640"/>
          </a:xfrm>
          <a:prstGeom prst="rect">
            <a:avLst/>
          </a:prstGeom>
        </p:spPr>
      </p:pic>
      <p:sp>
        <p:nvSpPr>
          <p:cNvPr id="18" name="Text 12"/>
          <p:cNvSpPr/>
          <p:nvPr/>
        </p:nvSpPr>
        <p:spPr>
          <a:xfrm>
            <a:off x="10515600" y="2606040"/>
            <a:ext cx="1737360" cy="685800"/>
          </a:xfrm>
          <a:prstGeom prst="rect">
            <a:avLst/>
          </a:prstGeom>
          <a:noFill/>
          <a:ln/>
        </p:spPr>
        <p:txBody>
          <a:bodyPr wrap="square" lIns="0" tIns="0" rIns="0" bIns="0" rtlCol="0" anchor="t"/>
          <a:lstStyle/>
          <a:p>
            <a:pPr algn="ctr" indent="0" marL="0">
              <a:buNone/>
            </a:pPr>
            <a:r>
              <a:rPr lang="en-US" sz="1300" b="1" dirty="0">
                <a:solidFill>
                  <a:srgbClr val="FFFFFF"/>
                </a:solidFill>
                <a:latin typeface="Cambria" pitchFamily="34" charset="0"/>
                <a:ea typeface="Cambria" pitchFamily="34" charset="-122"/>
                <a:cs typeface="Cambria" pitchFamily="34" charset="-120"/>
              </a:rPr>
              <a:t>Worm-Based (WannaCry)</a:t>
            </a:r>
            <a:endParaRPr lang="en-US" sz="1300" dirty="0"/>
          </a:p>
        </p:txBody>
      </p:sp>
      <p:sp>
        <p:nvSpPr>
          <p:cNvPr id="19" name="Text 13"/>
          <p:cNvSpPr/>
          <p:nvPr/>
        </p:nvSpPr>
        <p:spPr>
          <a:xfrm>
            <a:off x="10543032" y="3291840"/>
            <a:ext cx="1682496" cy="2651760"/>
          </a:xfrm>
          <a:prstGeom prst="rect">
            <a:avLst/>
          </a:prstGeom>
          <a:noFill/>
          <a:ln/>
        </p:spPr>
        <p:txBody>
          <a:bodyPr wrap="square" lIns="0" tIns="0" rIns="0" bIns="0" rtlCol="0" anchor="t"/>
          <a:lstStyle/>
          <a:p>
            <a:pPr algn="ctr" indent="0" marL="0">
              <a:lnSpc>
                <a:spcPct val="115000"/>
              </a:lnSpc>
              <a:buNone/>
            </a:pPr>
            <a:r>
              <a:rPr lang="en-US" sz="1080" dirty="0">
                <a:solidFill>
                  <a:srgbClr val="CADCFC"/>
                </a:solidFill>
                <a:latin typeface="Calibri" pitchFamily="34" charset="0"/>
                <a:ea typeface="Calibri" pitchFamily="34" charset="-122"/>
                <a:cs typeface="Calibri" pitchFamily="34" charset="-120"/>
              </a:rPr>
              <a:t>Self-propagates across networks automatically, combining a worm with crypto-ransomware.</a:t>
            </a:r>
            <a:endParaRPr lang="en-US" sz="1080" dirty="0"/>
          </a:p>
        </p:txBody>
      </p:sp>
      <p:sp>
        <p:nvSpPr>
          <p:cNvPr id="20" name="Text 14"/>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8FA9C9"/>
                </a:solidFill>
                <a:latin typeface="Calibri" pitchFamily="34" charset="0"/>
                <a:ea typeface="Calibri" pitchFamily="34" charset="-122"/>
                <a:cs typeface="Calibri" pitchFamily="34" charset="-120"/>
              </a:rPr>
              <a:t>WANNACRY RANSOMWARE ATTACK  |  CYBERSECURITY SEMINAR</a:t>
            </a:r>
            <a:endParaRPr lang="en-US" sz="900" dirty="0"/>
          </a:p>
        </p:txBody>
      </p:sp>
      <p:sp>
        <p:nvSpPr>
          <p:cNvPr id="21" name="Text 15"/>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8FA9C9"/>
                </a:solidFill>
                <a:latin typeface="Calibri" pitchFamily="34" charset="0"/>
                <a:ea typeface="Calibri" pitchFamily="34" charset="-122"/>
                <a:cs typeface="Calibri" pitchFamily="34" charset="-120"/>
              </a:rPr>
              <a:t>04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3EC6FF"/>
                </a:solidFill>
                <a:latin typeface="Calibri" pitchFamily="34" charset="0"/>
                <a:ea typeface="Calibri" pitchFamily="34" charset="-122"/>
                <a:cs typeface="Calibri" pitchFamily="34" charset="-120"/>
              </a:rPr>
              <a:t>ATTACK TIMELINE</a:t>
            </a:r>
            <a:endParaRPr lang="en-US" sz="1250" dirty="0"/>
          </a:p>
        </p:txBody>
      </p:sp>
      <p:sp>
        <p:nvSpPr>
          <p:cNvPr id="3" name="Text 1"/>
          <p:cNvSpPr/>
          <p:nvPr/>
        </p:nvSpPr>
        <p:spPr>
          <a:xfrm>
            <a:off x="548640" y="685800"/>
            <a:ext cx="10607040" cy="82296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Timeline of the WannaCry Attack (2017)</a:t>
            </a:r>
            <a:endParaRPr lang="en-US" sz="3200" dirty="0"/>
          </a:p>
        </p:txBody>
      </p:sp>
      <p:sp>
        <p:nvSpPr>
          <p:cNvPr id="4" name="Shape 2"/>
          <p:cNvSpPr/>
          <p:nvPr/>
        </p:nvSpPr>
        <p:spPr>
          <a:xfrm>
            <a:off x="1280160" y="3291840"/>
            <a:ext cx="9631375" cy="0"/>
          </a:xfrm>
          <a:prstGeom prst="line">
            <a:avLst/>
          </a:prstGeom>
          <a:noFill/>
          <a:ln w="28575">
            <a:solidFill>
              <a:srgbClr val="2E86FF">
                <a:alpha val="80000"/>
              </a:srgbClr>
            </a:solidFill>
            <a:prstDash val="solid"/>
          </a:ln>
        </p:spPr>
      </p:sp>
      <p:sp>
        <p:nvSpPr>
          <p:cNvPr id="5" name="Shape 3"/>
          <p:cNvSpPr/>
          <p:nvPr/>
        </p:nvSpPr>
        <p:spPr>
          <a:xfrm>
            <a:off x="1197864" y="3209544"/>
            <a:ext cx="164592" cy="164592"/>
          </a:xfrm>
          <a:prstGeom prst="ellipse">
            <a:avLst/>
          </a:prstGeom>
          <a:solidFill>
            <a:srgbClr val="3EC6FF"/>
          </a:solidFill>
          <a:ln w="19050">
            <a:solidFill>
              <a:srgbClr val="FFFFFF"/>
            </a:solidFill>
            <a:prstDash val="solid"/>
          </a:ln>
        </p:spPr>
      </p:sp>
      <p:sp>
        <p:nvSpPr>
          <p:cNvPr id="6" name="Shape 4"/>
          <p:cNvSpPr/>
          <p:nvPr/>
        </p:nvSpPr>
        <p:spPr>
          <a:xfrm>
            <a:off x="457200" y="1691640"/>
            <a:ext cx="1645920" cy="1417320"/>
          </a:xfrm>
          <a:prstGeom prst="roundRect">
            <a:avLst>
              <a:gd name="adj" fmla="val 5161"/>
            </a:avLst>
          </a:prstGeom>
          <a:solidFill>
            <a:srgbClr val="112240">
              <a:alpha val="88000"/>
            </a:srgbClr>
          </a:solidFill>
          <a:ln w="9525">
            <a:solidFill>
              <a:srgbClr val="2E86FF">
                <a:alpha val="50000"/>
              </a:srgbClr>
            </a:solidFill>
            <a:prstDash val="solid"/>
          </a:ln>
        </p:spPr>
      </p:sp>
      <p:pic>
        <p:nvPicPr>
          <p:cNvPr id="7" name="Image 0" descr="/home/claude/assets/badges/unlock_fill.png">    </p:cNvPr>
          <p:cNvPicPr>
            <a:picLocks noChangeAspect="1"/>
          </p:cNvPicPr>
          <p:nvPr/>
        </p:nvPicPr>
        <p:blipFill>
          <a:blip r:embed="rId1"/>
          <a:stretch>
            <a:fillRect/>
          </a:stretch>
        </p:blipFill>
        <p:spPr>
          <a:xfrm>
            <a:off x="1060704" y="1828800"/>
            <a:ext cx="438912" cy="438912"/>
          </a:xfrm>
          <a:prstGeom prst="rect">
            <a:avLst/>
          </a:prstGeom>
        </p:spPr>
      </p:pic>
      <p:sp>
        <p:nvSpPr>
          <p:cNvPr id="8" name="Text 5"/>
          <p:cNvSpPr/>
          <p:nvPr/>
        </p:nvSpPr>
        <p:spPr>
          <a:xfrm>
            <a:off x="530352" y="2313432"/>
            <a:ext cx="1499616" cy="292608"/>
          </a:xfrm>
          <a:prstGeom prst="rect">
            <a:avLst/>
          </a:prstGeom>
          <a:noFill/>
          <a:ln/>
        </p:spPr>
        <p:txBody>
          <a:bodyPr wrap="square" lIns="0" tIns="0" rIns="0" bIns="0" rtlCol="0" anchor="ctr"/>
          <a:lstStyle/>
          <a:p>
            <a:pPr algn="ctr" indent="0" marL="0">
              <a:buNone/>
            </a:pPr>
            <a:r>
              <a:rPr lang="en-US" sz="1250" b="1" dirty="0">
                <a:solidFill>
                  <a:srgbClr val="3EC6FF"/>
                </a:solidFill>
                <a:latin typeface="Cambria" pitchFamily="34" charset="0"/>
                <a:ea typeface="Cambria" pitchFamily="34" charset="-122"/>
                <a:cs typeface="Cambria" pitchFamily="34" charset="-120"/>
              </a:rPr>
              <a:t>Apr 14</a:t>
            </a:r>
            <a:endParaRPr lang="en-US" sz="1250" dirty="0"/>
          </a:p>
        </p:txBody>
      </p:sp>
      <p:sp>
        <p:nvSpPr>
          <p:cNvPr id="9" name="Text 6"/>
          <p:cNvSpPr/>
          <p:nvPr/>
        </p:nvSpPr>
        <p:spPr>
          <a:xfrm>
            <a:off x="530352" y="2606040"/>
            <a:ext cx="1499616" cy="457200"/>
          </a:xfrm>
          <a:prstGeom prst="rect">
            <a:avLst/>
          </a:prstGeom>
          <a:noFill/>
          <a:ln/>
        </p:spPr>
        <p:txBody>
          <a:bodyPr wrap="square" lIns="0" tIns="0" rIns="0" bIns="0" rtlCol="0" anchor="t"/>
          <a:lstStyle/>
          <a:p>
            <a:pPr algn="ctr" indent="0" marL="0">
              <a:lnSpc>
                <a:spcPct val="105000"/>
              </a:lnSpc>
              <a:buNone/>
            </a:pPr>
            <a:r>
              <a:rPr lang="en-US" sz="1030" dirty="0">
                <a:solidFill>
                  <a:srgbClr val="CADCFC"/>
                </a:solidFill>
                <a:latin typeface="Calibri" pitchFamily="34" charset="0"/>
                <a:ea typeface="Calibri" pitchFamily="34" charset="-122"/>
                <a:cs typeface="Calibri" pitchFamily="34" charset="-120"/>
              </a:rPr>
              <a:t>Exploit Leaked</a:t>
            </a:r>
            <a:endParaRPr lang="en-US" sz="1030" dirty="0"/>
          </a:p>
        </p:txBody>
      </p:sp>
      <p:sp>
        <p:nvSpPr>
          <p:cNvPr id="10" name="Shape 7"/>
          <p:cNvSpPr/>
          <p:nvPr/>
        </p:nvSpPr>
        <p:spPr>
          <a:xfrm>
            <a:off x="1280160" y="3108960"/>
            <a:ext cx="0" cy="182880"/>
          </a:xfrm>
          <a:prstGeom prst="line">
            <a:avLst/>
          </a:prstGeom>
          <a:noFill/>
          <a:ln w="12700">
            <a:solidFill>
              <a:srgbClr val="2E86FF">
                <a:alpha val="60000"/>
              </a:srgbClr>
            </a:solidFill>
            <a:prstDash val="dash"/>
          </a:ln>
        </p:spPr>
      </p:sp>
      <p:sp>
        <p:nvSpPr>
          <p:cNvPr id="11" name="Shape 8"/>
          <p:cNvSpPr/>
          <p:nvPr/>
        </p:nvSpPr>
        <p:spPr>
          <a:xfrm>
            <a:off x="3124139" y="3209544"/>
            <a:ext cx="164592" cy="164592"/>
          </a:xfrm>
          <a:prstGeom prst="ellipse">
            <a:avLst/>
          </a:prstGeom>
          <a:solidFill>
            <a:srgbClr val="3EC6FF"/>
          </a:solidFill>
          <a:ln w="19050">
            <a:solidFill>
              <a:srgbClr val="FFFFFF"/>
            </a:solidFill>
            <a:prstDash val="solid"/>
          </a:ln>
        </p:spPr>
      </p:sp>
      <p:sp>
        <p:nvSpPr>
          <p:cNvPr id="12" name="Shape 9"/>
          <p:cNvSpPr/>
          <p:nvPr/>
        </p:nvSpPr>
        <p:spPr>
          <a:xfrm>
            <a:off x="2383475" y="3474720"/>
            <a:ext cx="1645920" cy="1417320"/>
          </a:xfrm>
          <a:prstGeom prst="roundRect">
            <a:avLst>
              <a:gd name="adj" fmla="val 5161"/>
            </a:avLst>
          </a:prstGeom>
          <a:solidFill>
            <a:srgbClr val="112240">
              <a:alpha val="88000"/>
            </a:srgbClr>
          </a:solidFill>
          <a:ln w="9525">
            <a:solidFill>
              <a:srgbClr val="2E86FF">
                <a:alpha val="50000"/>
              </a:srgbClr>
            </a:solidFill>
            <a:prstDash val="solid"/>
          </a:ln>
        </p:spPr>
      </p:sp>
      <p:pic>
        <p:nvPicPr>
          <p:cNvPr id="13" name="Image 1" descr="/home/claude/assets/badges/globe_fill.png">    </p:cNvPr>
          <p:cNvPicPr>
            <a:picLocks noChangeAspect="1"/>
          </p:cNvPicPr>
          <p:nvPr/>
        </p:nvPicPr>
        <p:blipFill>
          <a:blip r:embed="rId2"/>
          <a:stretch>
            <a:fillRect/>
          </a:stretch>
        </p:blipFill>
        <p:spPr>
          <a:xfrm>
            <a:off x="2986979" y="3611880"/>
            <a:ext cx="438912" cy="438912"/>
          </a:xfrm>
          <a:prstGeom prst="rect">
            <a:avLst/>
          </a:prstGeom>
        </p:spPr>
      </p:pic>
      <p:sp>
        <p:nvSpPr>
          <p:cNvPr id="14" name="Text 10"/>
          <p:cNvSpPr/>
          <p:nvPr/>
        </p:nvSpPr>
        <p:spPr>
          <a:xfrm>
            <a:off x="2456627" y="4096512"/>
            <a:ext cx="1499616" cy="292608"/>
          </a:xfrm>
          <a:prstGeom prst="rect">
            <a:avLst/>
          </a:prstGeom>
          <a:noFill/>
          <a:ln/>
        </p:spPr>
        <p:txBody>
          <a:bodyPr wrap="square" lIns="0" tIns="0" rIns="0" bIns="0" rtlCol="0" anchor="ctr"/>
          <a:lstStyle/>
          <a:p>
            <a:pPr algn="ctr" indent="0" marL="0">
              <a:buNone/>
            </a:pPr>
            <a:r>
              <a:rPr lang="en-US" sz="1250" b="1" dirty="0">
                <a:solidFill>
                  <a:srgbClr val="3EC6FF"/>
                </a:solidFill>
                <a:latin typeface="Cambria" pitchFamily="34" charset="0"/>
                <a:ea typeface="Cambria" pitchFamily="34" charset="-122"/>
                <a:cs typeface="Cambria" pitchFamily="34" charset="-120"/>
              </a:rPr>
              <a:t>May 12</a:t>
            </a:r>
            <a:endParaRPr lang="en-US" sz="1250" dirty="0"/>
          </a:p>
        </p:txBody>
      </p:sp>
      <p:sp>
        <p:nvSpPr>
          <p:cNvPr id="15" name="Text 11"/>
          <p:cNvSpPr/>
          <p:nvPr/>
        </p:nvSpPr>
        <p:spPr>
          <a:xfrm>
            <a:off x="2456627" y="4389120"/>
            <a:ext cx="1499616" cy="457200"/>
          </a:xfrm>
          <a:prstGeom prst="rect">
            <a:avLst/>
          </a:prstGeom>
          <a:noFill/>
          <a:ln/>
        </p:spPr>
        <p:txBody>
          <a:bodyPr wrap="square" lIns="0" tIns="0" rIns="0" bIns="0" rtlCol="0" anchor="t"/>
          <a:lstStyle/>
          <a:p>
            <a:pPr algn="ctr" indent="0" marL="0">
              <a:lnSpc>
                <a:spcPct val="105000"/>
              </a:lnSpc>
              <a:buNone/>
            </a:pPr>
            <a:r>
              <a:rPr lang="en-US" sz="1030" dirty="0">
                <a:solidFill>
                  <a:srgbClr val="CADCFC"/>
                </a:solidFill>
                <a:latin typeface="Calibri" pitchFamily="34" charset="0"/>
                <a:ea typeface="Calibri" pitchFamily="34" charset="-122"/>
                <a:cs typeface="Calibri" pitchFamily="34" charset="-120"/>
              </a:rPr>
              <a:t>Global Outbreak Begins</a:t>
            </a:r>
            <a:endParaRPr lang="en-US" sz="1030" dirty="0"/>
          </a:p>
        </p:txBody>
      </p:sp>
      <p:sp>
        <p:nvSpPr>
          <p:cNvPr id="16" name="Shape 12"/>
          <p:cNvSpPr/>
          <p:nvPr/>
        </p:nvSpPr>
        <p:spPr>
          <a:xfrm>
            <a:off x="3206435" y="3291840"/>
            <a:ext cx="0" cy="182880"/>
          </a:xfrm>
          <a:prstGeom prst="line">
            <a:avLst/>
          </a:prstGeom>
          <a:noFill/>
          <a:ln w="12700">
            <a:solidFill>
              <a:srgbClr val="2E86FF">
                <a:alpha val="60000"/>
              </a:srgbClr>
            </a:solidFill>
            <a:prstDash val="dash"/>
          </a:ln>
        </p:spPr>
      </p:sp>
      <p:sp>
        <p:nvSpPr>
          <p:cNvPr id="17" name="Shape 13"/>
          <p:cNvSpPr/>
          <p:nvPr/>
        </p:nvSpPr>
        <p:spPr>
          <a:xfrm>
            <a:off x="5050414" y="3209544"/>
            <a:ext cx="164592" cy="164592"/>
          </a:xfrm>
          <a:prstGeom prst="ellipse">
            <a:avLst/>
          </a:prstGeom>
          <a:solidFill>
            <a:srgbClr val="3EC6FF"/>
          </a:solidFill>
          <a:ln w="19050">
            <a:solidFill>
              <a:srgbClr val="FFFFFF"/>
            </a:solidFill>
            <a:prstDash val="solid"/>
          </a:ln>
        </p:spPr>
      </p:sp>
      <p:sp>
        <p:nvSpPr>
          <p:cNvPr id="18" name="Shape 14"/>
          <p:cNvSpPr/>
          <p:nvPr/>
        </p:nvSpPr>
        <p:spPr>
          <a:xfrm>
            <a:off x="4309750" y="1691640"/>
            <a:ext cx="1645920" cy="1417320"/>
          </a:xfrm>
          <a:prstGeom prst="roundRect">
            <a:avLst>
              <a:gd name="adj" fmla="val 5161"/>
            </a:avLst>
          </a:prstGeom>
          <a:solidFill>
            <a:srgbClr val="112240">
              <a:alpha val="88000"/>
            </a:srgbClr>
          </a:solidFill>
          <a:ln w="9525">
            <a:solidFill>
              <a:srgbClr val="2E86FF">
                <a:alpha val="50000"/>
              </a:srgbClr>
            </a:solidFill>
            <a:prstDash val="solid"/>
          </a:ln>
        </p:spPr>
      </p:sp>
      <p:pic>
        <p:nvPicPr>
          <p:cNvPr id="19" name="Image 2" descr="/home/claude/assets/badges/hospital_fill.png">    </p:cNvPr>
          <p:cNvPicPr>
            <a:picLocks noChangeAspect="1"/>
          </p:cNvPicPr>
          <p:nvPr/>
        </p:nvPicPr>
        <p:blipFill>
          <a:blip r:embed="rId3"/>
          <a:stretch>
            <a:fillRect/>
          </a:stretch>
        </p:blipFill>
        <p:spPr>
          <a:xfrm>
            <a:off x="4913254" y="1828800"/>
            <a:ext cx="438912" cy="438912"/>
          </a:xfrm>
          <a:prstGeom prst="rect">
            <a:avLst/>
          </a:prstGeom>
        </p:spPr>
      </p:pic>
      <p:sp>
        <p:nvSpPr>
          <p:cNvPr id="20" name="Text 15"/>
          <p:cNvSpPr/>
          <p:nvPr/>
        </p:nvSpPr>
        <p:spPr>
          <a:xfrm>
            <a:off x="4382902" y="2313432"/>
            <a:ext cx="1499616" cy="292608"/>
          </a:xfrm>
          <a:prstGeom prst="rect">
            <a:avLst/>
          </a:prstGeom>
          <a:noFill/>
          <a:ln/>
        </p:spPr>
        <p:txBody>
          <a:bodyPr wrap="square" lIns="0" tIns="0" rIns="0" bIns="0" rtlCol="0" anchor="ctr"/>
          <a:lstStyle/>
          <a:p>
            <a:pPr algn="ctr" indent="0" marL="0">
              <a:buNone/>
            </a:pPr>
            <a:r>
              <a:rPr lang="en-US" sz="1250" b="1" dirty="0">
                <a:solidFill>
                  <a:srgbClr val="3EC6FF"/>
                </a:solidFill>
                <a:latin typeface="Cambria" pitchFamily="34" charset="0"/>
                <a:ea typeface="Cambria" pitchFamily="34" charset="-122"/>
                <a:cs typeface="Cambria" pitchFamily="34" charset="-120"/>
              </a:rPr>
              <a:t>May 12</a:t>
            </a:r>
            <a:endParaRPr lang="en-US" sz="1250" dirty="0"/>
          </a:p>
        </p:txBody>
      </p:sp>
      <p:sp>
        <p:nvSpPr>
          <p:cNvPr id="21" name="Text 16"/>
          <p:cNvSpPr/>
          <p:nvPr/>
        </p:nvSpPr>
        <p:spPr>
          <a:xfrm>
            <a:off x="4382902" y="2606040"/>
            <a:ext cx="1499616" cy="457200"/>
          </a:xfrm>
          <a:prstGeom prst="rect">
            <a:avLst/>
          </a:prstGeom>
          <a:noFill/>
          <a:ln/>
        </p:spPr>
        <p:txBody>
          <a:bodyPr wrap="square" lIns="0" tIns="0" rIns="0" bIns="0" rtlCol="0" anchor="t"/>
          <a:lstStyle/>
          <a:p>
            <a:pPr algn="ctr" indent="0" marL="0">
              <a:lnSpc>
                <a:spcPct val="105000"/>
              </a:lnSpc>
              <a:buNone/>
            </a:pPr>
            <a:r>
              <a:rPr lang="en-US" sz="1030" dirty="0">
                <a:solidFill>
                  <a:srgbClr val="CADCFC"/>
                </a:solidFill>
                <a:latin typeface="Calibri" pitchFamily="34" charset="0"/>
                <a:ea typeface="Calibri" pitchFamily="34" charset="-122"/>
                <a:cs typeface="Calibri" pitchFamily="34" charset="-120"/>
              </a:rPr>
              <a:t>NHS &amp; Telefónica Hit</a:t>
            </a:r>
            <a:endParaRPr lang="en-US" sz="1030" dirty="0"/>
          </a:p>
        </p:txBody>
      </p:sp>
      <p:sp>
        <p:nvSpPr>
          <p:cNvPr id="22" name="Shape 17"/>
          <p:cNvSpPr/>
          <p:nvPr/>
        </p:nvSpPr>
        <p:spPr>
          <a:xfrm>
            <a:off x="5132710" y="3108960"/>
            <a:ext cx="0" cy="182880"/>
          </a:xfrm>
          <a:prstGeom prst="line">
            <a:avLst/>
          </a:prstGeom>
          <a:noFill/>
          <a:ln w="12700">
            <a:solidFill>
              <a:srgbClr val="2E86FF">
                <a:alpha val="60000"/>
              </a:srgbClr>
            </a:solidFill>
            <a:prstDash val="dash"/>
          </a:ln>
        </p:spPr>
      </p:sp>
      <p:sp>
        <p:nvSpPr>
          <p:cNvPr id="23" name="Shape 18"/>
          <p:cNvSpPr/>
          <p:nvPr/>
        </p:nvSpPr>
        <p:spPr>
          <a:xfrm>
            <a:off x="6976689" y="3209544"/>
            <a:ext cx="164592" cy="164592"/>
          </a:xfrm>
          <a:prstGeom prst="ellipse">
            <a:avLst/>
          </a:prstGeom>
          <a:solidFill>
            <a:srgbClr val="3EC6FF"/>
          </a:solidFill>
          <a:ln w="19050">
            <a:solidFill>
              <a:srgbClr val="FFFFFF"/>
            </a:solidFill>
            <a:prstDash val="solid"/>
          </a:ln>
        </p:spPr>
      </p:sp>
      <p:sp>
        <p:nvSpPr>
          <p:cNvPr id="24" name="Shape 19"/>
          <p:cNvSpPr/>
          <p:nvPr/>
        </p:nvSpPr>
        <p:spPr>
          <a:xfrm>
            <a:off x="6236025" y="3474720"/>
            <a:ext cx="1645920" cy="1417320"/>
          </a:xfrm>
          <a:prstGeom prst="roundRect">
            <a:avLst>
              <a:gd name="adj" fmla="val 5161"/>
            </a:avLst>
          </a:prstGeom>
          <a:solidFill>
            <a:srgbClr val="112240">
              <a:alpha val="88000"/>
            </a:srgbClr>
          </a:solidFill>
          <a:ln w="9525">
            <a:solidFill>
              <a:srgbClr val="2E86FF">
                <a:alpha val="50000"/>
              </a:srgbClr>
            </a:solidFill>
            <a:prstDash val="solid"/>
          </a:ln>
        </p:spPr>
      </p:sp>
      <p:pic>
        <p:nvPicPr>
          <p:cNvPr id="25" name="Image 3" descr="/home/claude/assets/badges/shield_fill.png">    </p:cNvPr>
          <p:cNvPicPr>
            <a:picLocks noChangeAspect="1"/>
          </p:cNvPicPr>
          <p:nvPr/>
        </p:nvPicPr>
        <p:blipFill>
          <a:blip r:embed="rId4"/>
          <a:stretch>
            <a:fillRect/>
          </a:stretch>
        </p:blipFill>
        <p:spPr>
          <a:xfrm>
            <a:off x="6839529" y="3611880"/>
            <a:ext cx="438912" cy="438912"/>
          </a:xfrm>
          <a:prstGeom prst="rect">
            <a:avLst/>
          </a:prstGeom>
        </p:spPr>
      </p:pic>
      <p:sp>
        <p:nvSpPr>
          <p:cNvPr id="26" name="Text 20"/>
          <p:cNvSpPr/>
          <p:nvPr/>
        </p:nvSpPr>
        <p:spPr>
          <a:xfrm>
            <a:off x="6309177" y="4096512"/>
            <a:ext cx="1499616" cy="292608"/>
          </a:xfrm>
          <a:prstGeom prst="rect">
            <a:avLst/>
          </a:prstGeom>
          <a:noFill/>
          <a:ln/>
        </p:spPr>
        <p:txBody>
          <a:bodyPr wrap="square" lIns="0" tIns="0" rIns="0" bIns="0" rtlCol="0" anchor="ctr"/>
          <a:lstStyle/>
          <a:p>
            <a:pPr algn="ctr" indent="0" marL="0">
              <a:buNone/>
            </a:pPr>
            <a:r>
              <a:rPr lang="en-US" sz="1250" b="1" dirty="0">
                <a:solidFill>
                  <a:srgbClr val="3EC6FF"/>
                </a:solidFill>
                <a:latin typeface="Cambria" pitchFamily="34" charset="0"/>
                <a:ea typeface="Cambria" pitchFamily="34" charset="-122"/>
                <a:cs typeface="Cambria" pitchFamily="34" charset="-120"/>
              </a:rPr>
              <a:t>May 13</a:t>
            </a:r>
            <a:endParaRPr lang="en-US" sz="1250" dirty="0"/>
          </a:p>
        </p:txBody>
      </p:sp>
      <p:sp>
        <p:nvSpPr>
          <p:cNvPr id="27" name="Text 21"/>
          <p:cNvSpPr/>
          <p:nvPr/>
        </p:nvSpPr>
        <p:spPr>
          <a:xfrm>
            <a:off x="6309177" y="4389120"/>
            <a:ext cx="1499616" cy="457200"/>
          </a:xfrm>
          <a:prstGeom prst="rect">
            <a:avLst/>
          </a:prstGeom>
          <a:noFill/>
          <a:ln/>
        </p:spPr>
        <p:txBody>
          <a:bodyPr wrap="square" lIns="0" tIns="0" rIns="0" bIns="0" rtlCol="0" anchor="t"/>
          <a:lstStyle/>
          <a:p>
            <a:pPr algn="ctr" indent="0" marL="0">
              <a:lnSpc>
                <a:spcPct val="105000"/>
              </a:lnSpc>
              <a:buNone/>
            </a:pPr>
            <a:r>
              <a:rPr lang="en-US" sz="1030" dirty="0">
                <a:solidFill>
                  <a:srgbClr val="CADCFC"/>
                </a:solidFill>
                <a:latin typeface="Calibri" pitchFamily="34" charset="0"/>
                <a:ea typeface="Calibri" pitchFamily="34" charset="-122"/>
                <a:cs typeface="Calibri" pitchFamily="34" charset="-120"/>
              </a:rPr>
              <a:t>Kill Switch Found</a:t>
            </a:r>
            <a:endParaRPr lang="en-US" sz="1030" dirty="0"/>
          </a:p>
        </p:txBody>
      </p:sp>
      <p:sp>
        <p:nvSpPr>
          <p:cNvPr id="28" name="Shape 22"/>
          <p:cNvSpPr/>
          <p:nvPr/>
        </p:nvSpPr>
        <p:spPr>
          <a:xfrm>
            <a:off x="7058985" y="3291840"/>
            <a:ext cx="0" cy="182880"/>
          </a:xfrm>
          <a:prstGeom prst="line">
            <a:avLst/>
          </a:prstGeom>
          <a:noFill/>
          <a:ln w="12700">
            <a:solidFill>
              <a:srgbClr val="2E86FF">
                <a:alpha val="60000"/>
              </a:srgbClr>
            </a:solidFill>
            <a:prstDash val="dash"/>
          </a:ln>
        </p:spPr>
      </p:sp>
      <p:sp>
        <p:nvSpPr>
          <p:cNvPr id="29" name="Shape 23"/>
          <p:cNvSpPr/>
          <p:nvPr/>
        </p:nvSpPr>
        <p:spPr>
          <a:xfrm>
            <a:off x="8902964" y="3209544"/>
            <a:ext cx="164592" cy="164592"/>
          </a:xfrm>
          <a:prstGeom prst="ellipse">
            <a:avLst/>
          </a:prstGeom>
          <a:solidFill>
            <a:srgbClr val="3EC6FF"/>
          </a:solidFill>
          <a:ln w="19050">
            <a:solidFill>
              <a:srgbClr val="FFFFFF"/>
            </a:solidFill>
            <a:prstDash val="solid"/>
          </a:ln>
        </p:spPr>
      </p:sp>
      <p:sp>
        <p:nvSpPr>
          <p:cNvPr id="30" name="Shape 24"/>
          <p:cNvSpPr/>
          <p:nvPr/>
        </p:nvSpPr>
        <p:spPr>
          <a:xfrm>
            <a:off x="8162300" y="1691640"/>
            <a:ext cx="1645920" cy="1417320"/>
          </a:xfrm>
          <a:prstGeom prst="roundRect">
            <a:avLst>
              <a:gd name="adj" fmla="val 5161"/>
            </a:avLst>
          </a:prstGeom>
          <a:solidFill>
            <a:srgbClr val="112240">
              <a:alpha val="88000"/>
            </a:srgbClr>
          </a:solidFill>
          <a:ln w="9525">
            <a:solidFill>
              <a:srgbClr val="2E86FF">
                <a:alpha val="50000"/>
              </a:srgbClr>
            </a:solidFill>
            <a:prstDash val="solid"/>
          </a:ln>
        </p:spPr>
      </p:sp>
      <p:pic>
        <p:nvPicPr>
          <p:cNvPr id="31" name="Image 4" descr="/home/claude/assets/badges/bug_fill.png">    </p:cNvPr>
          <p:cNvPicPr>
            <a:picLocks noChangeAspect="1"/>
          </p:cNvPicPr>
          <p:nvPr/>
        </p:nvPicPr>
        <p:blipFill>
          <a:blip r:embed="rId5"/>
          <a:stretch>
            <a:fillRect/>
          </a:stretch>
        </p:blipFill>
        <p:spPr>
          <a:xfrm>
            <a:off x="8765804" y="1828800"/>
            <a:ext cx="438912" cy="438912"/>
          </a:xfrm>
          <a:prstGeom prst="rect">
            <a:avLst/>
          </a:prstGeom>
        </p:spPr>
      </p:pic>
      <p:sp>
        <p:nvSpPr>
          <p:cNvPr id="32" name="Text 25"/>
          <p:cNvSpPr/>
          <p:nvPr/>
        </p:nvSpPr>
        <p:spPr>
          <a:xfrm>
            <a:off x="8235452" y="2313432"/>
            <a:ext cx="1499616" cy="292608"/>
          </a:xfrm>
          <a:prstGeom prst="rect">
            <a:avLst/>
          </a:prstGeom>
          <a:noFill/>
          <a:ln/>
        </p:spPr>
        <p:txBody>
          <a:bodyPr wrap="square" lIns="0" tIns="0" rIns="0" bIns="0" rtlCol="0" anchor="ctr"/>
          <a:lstStyle/>
          <a:p>
            <a:pPr algn="ctr" indent="0" marL="0">
              <a:buNone/>
            </a:pPr>
            <a:r>
              <a:rPr lang="en-US" sz="1250" b="1" dirty="0">
                <a:solidFill>
                  <a:srgbClr val="3EC6FF"/>
                </a:solidFill>
                <a:latin typeface="Cambria" pitchFamily="34" charset="0"/>
                <a:ea typeface="Cambria" pitchFamily="34" charset="-122"/>
                <a:cs typeface="Cambria" pitchFamily="34" charset="-120"/>
              </a:rPr>
              <a:t>May 14</a:t>
            </a:r>
            <a:endParaRPr lang="en-US" sz="1250" dirty="0"/>
          </a:p>
        </p:txBody>
      </p:sp>
      <p:sp>
        <p:nvSpPr>
          <p:cNvPr id="33" name="Text 26"/>
          <p:cNvSpPr/>
          <p:nvPr/>
        </p:nvSpPr>
        <p:spPr>
          <a:xfrm>
            <a:off x="8235452" y="2606040"/>
            <a:ext cx="1499616" cy="457200"/>
          </a:xfrm>
          <a:prstGeom prst="rect">
            <a:avLst/>
          </a:prstGeom>
          <a:noFill/>
          <a:ln/>
        </p:spPr>
        <p:txBody>
          <a:bodyPr wrap="square" lIns="0" tIns="0" rIns="0" bIns="0" rtlCol="0" anchor="t"/>
          <a:lstStyle/>
          <a:p>
            <a:pPr algn="ctr" indent="0" marL="0">
              <a:lnSpc>
                <a:spcPct val="105000"/>
              </a:lnSpc>
              <a:buNone/>
            </a:pPr>
            <a:r>
              <a:rPr lang="en-US" sz="1030" dirty="0">
                <a:solidFill>
                  <a:srgbClr val="CADCFC"/>
                </a:solidFill>
                <a:latin typeface="Calibri" pitchFamily="34" charset="0"/>
                <a:ea typeface="Calibri" pitchFamily="34" charset="-122"/>
                <a:cs typeface="Calibri" pitchFamily="34" charset="-120"/>
              </a:rPr>
              <a:t>New Variants Emerge</a:t>
            </a:r>
            <a:endParaRPr lang="en-US" sz="1030" dirty="0"/>
          </a:p>
        </p:txBody>
      </p:sp>
      <p:sp>
        <p:nvSpPr>
          <p:cNvPr id="34" name="Shape 27"/>
          <p:cNvSpPr/>
          <p:nvPr/>
        </p:nvSpPr>
        <p:spPr>
          <a:xfrm>
            <a:off x="8985260" y="3108960"/>
            <a:ext cx="0" cy="182880"/>
          </a:xfrm>
          <a:prstGeom prst="line">
            <a:avLst/>
          </a:prstGeom>
          <a:noFill/>
          <a:ln w="12700">
            <a:solidFill>
              <a:srgbClr val="2E86FF">
                <a:alpha val="60000"/>
              </a:srgbClr>
            </a:solidFill>
            <a:prstDash val="dash"/>
          </a:ln>
        </p:spPr>
      </p:sp>
      <p:sp>
        <p:nvSpPr>
          <p:cNvPr id="35" name="Shape 28"/>
          <p:cNvSpPr/>
          <p:nvPr/>
        </p:nvSpPr>
        <p:spPr>
          <a:xfrm>
            <a:off x="10829239" y="3209544"/>
            <a:ext cx="164592" cy="164592"/>
          </a:xfrm>
          <a:prstGeom prst="ellipse">
            <a:avLst/>
          </a:prstGeom>
          <a:solidFill>
            <a:srgbClr val="3EC6FF"/>
          </a:solidFill>
          <a:ln w="19050">
            <a:solidFill>
              <a:srgbClr val="FFFFFF"/>
            </a:solidFill>
            <a:prstDash val="solid"/>
          </a:ln>
        </p:spPr>
      </p:sp>
      <p:sp>
        <p:nvSpPr>
          <p:cNvPr id="36" name="Shape 29"/>
          <p:cNvSpPr/>
          <p:nvPr/>
        </p:nvSpPr>
        <p:spPr>
          <a:xfrm>
            <a:off x="10088575" y="3474720"/>
            <a:ext cx="1645920" cy="1417320"/>
          </a:xfrm>
          <a:prstGeom prst="roundRect">
            <a:avLst>
              <a:gd name="adj" fmla="val 5161"/>
            </a:avLst>
          </a:prstGeom>
          <a:solidFill>
            <a:srgbClr val="112240">
              <a:alpha val="88000"/>
            </a:srgbClr>
          </a:solidFill>
          <a:ln w="9525">
            <a:solidFill>
              <a:srgbClr val="2E86FF">
                <a:alpha val="50000"/>
              </a:srgbClr>
            </a:solidFill>
            <a:prstDash val="solid"/>
          </a:ln>
        </p:spPr>
      </p:sp>
      <p:pic>
        <p:nvPicPr>
          <p:cNvPr id="37" name="Image 5" descr="/home/claude/assets/badges/checkCircle_fill.png">    </p:cNvPr>
          <p:cNvPicPr>
            <a:picLocks noChangeAspect="1"/>
          </p:cNvPicPr>
          <p:nvPr/>
        </p:nvPicPr>
        <p:blipFill>
          <a:blip r:embed="rId6"/>
          <a:stretch>
            <a:fillRect/>
          </a:stretch>
        </p:blipFill>
        <p:spPr>
          <a:xfrm>
            <a:off x="10692079" y="3611880"/>
            <a:ext cx="438912" cy="438912"/>
          </a:xfrm>
          <a:prstGeom prst="rect">
            <a:avLst/>
          </a:prstGeom>
        </p:spPr>
      </p:pic>
      <p:sp>
        <p:nvSpPr>
          <p:cNvPr id="38" name="Text 30"/>
          <p:cNvSpPr/>
          <p:nvPr/>
        </p:nvSpPr>
        <p:spPr>
          <a:xfrm>
            <a:off x="10161727" y="4096512"/>
            <a:ext cx="1499616" cy="292608"/>
          </a:xfrm>
          <a:prstGeom prst="rect">
            <a:avLst/>
          </a:prstGeom>
          <a:noFill/>
          <a:ln/>
        </p:spPr>
        <p:txBody>
          <a:bodyPr wrap="square" lIns="0" tIns="0" rIns="0" bIns="0" rtlCol="0" anchor="ctr"/>
          <a:lstStyle/>
          <a:p>
            <a:pPr algn="ctr" indent="0" marL="0">
              <a:buNone/>
            </a:pPr>
            <a:r>
              <a:rPr lang="en-US" sz="1250" b="1" dirty="0">
                <a:solidFill>
                  <a:srgbClr val="3EC6FF"/>
                </a:solidFill>
                <a:latin typeface="Cambria" pitchFamily="34" charset="0"/>
                <a:ea typeface="Cambria" pitchFamily="34" charset="-122"/>
                <a:cs typeface="Cambria" pitchFamily="34" charset="-120"/>
              </a:rPr>
              <a:t>May 15+</a:t>
            </a:r>
            <a:endParaRPr lang="en-US" sz="1250" dirty="0"/>
          </a:p>
        </p:txBody>
      </p:sp>
      <p:sp>
        <p:nvSpPr>
          <p:cNvPr id="39" name="Text 31"/>
          <p:cNvSpPr/>
          <p:nvPr/>
        </p:nvSpPr>
        <p:spPr>
          <a:xfrm>
            <a:off x="10161727" y="4389120"/>
            <a:ext cx="1499616" cy="457200"/>
          </a:xfrm>
          <a:prstGeom prst="rect">
            <a:avLst/>
          </a:prstGeom>
          <a:noFill/>
          <a:ln/>
        </p:spPr>
        <p:txBody>
          <a:bodyPr wrap="square" lIns="0" tIns="0" rIns="0" bIns="0" rtlCol="0" anchor="t"/>
          <a:lstStyle/>
          <a:p>
            <a:pPr algn="ctr" indent="0" marL="0">
              <a:lnSpc>
                <a:spcPct val="105000"/>
              </a:lnSpc>
              <a:buNone/>
            </a:pPr>
            <a:r>
              <a:rPr lang="en-US" sz="1030" dirty="0">
                <a:solidFill>
                  <a:srgbClr val="CADCFC"/>
                </a:solidFill>
                <a:latin typeface="Calibri" pitchFamily="34" charset="0"/>
                <a:ea typeface="Calibri" pitchFamily="34" charset="-122"/>
                <a:cs typeface="Calibri" pitchFamily="34" charset="-120"/>
              </a:rPr>
              <a:t>Global Recovery Begins</a:t>
            </a:r>
            <a:endParaRPr lang="en-US" sz="1030" dirty="0"/>
          </a:p>
        </p:txBody>
      </p:sp>
      <p:sp>
        <p:nvSpPr>
          <p:cNvPr id="40" name="Shape 32"/>
          <p:cNvSpPr/>
          <p:nvPr/>
        </p:nvSpPr>
        <p:spPr>
          <a:xfrm>
            <a:off x="10911535" y="3291840"/>
            <a:ext cx="0" cy="182880"/>
          </a:xfrm>
          <a:prstGeom prst="line">
            <a:avLst/>
          </a:prstGeom>
          <a:noFill/>
          <a:ln w="12700">
            <a:solidFill>
              <a:srgbClr val="2E86FF">
                <a:alpha val="60000"/>
              </a:srgbClr>
            </a:solidFill>
            <a:prstDash val="dash"/>
          </a:ln>
        </p:spPr>
      </p:sp>
      <p:sp>
        <p:nvSpPr>
          <p:cNvPr id="41" name="Text 33"/>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8FA9C9"/>
                </a:solidFill>
                <a:latin typeface="Calibri" pitchFamily="34" charset="0"/>
                <a:ea typeface="Calibri" pitchFamily="34" charset="-122"/>
                <a:cs typeface="Calibri" pitchFamily="34" charset="-120"/>
              </a:rPr>
              <a:t>WANNACRY RANSOMWARE ATTACK  |  CYBERSECURITY SEMINAR</a:t>
            </a:r>
            <a:endParaRPr lang="en-US" sz="900" dirty="0"/>
          </a:p>
        </p:txBody>
      </p:sp>
      <p:sp>
        <p:nvSpPr>
          <p:cNvPr id="42" name="Text 34"/>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8FA9C9"/>
                </a:solidFill>
                <a:latin typeface="Calibri" pitchFamily="34" charset="0"/>
                <a:ea typeface="Calibri" pitchFamily="34" charset="-122"/>
                <a:cs typeface="Calibri" pitchFamily="34" charset="-120"/>
              </a:rPr>
              <a:t>05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3EC6FF"/>
                </a:solidFill>
                <a:latin typeface="Calibri" pitchFamily="34" charset="0"/>
                <a:ea typeface="Calibri" pitchFamily="34" charset="-122"/>
                <a:cs typeface="Calibri" pitchFamily="34" charset="-120"/>
              </a:rPr>
              <a:t>THE ATTACK</a:t>
            </a:r>
            <a:endParaRPr lang="en-US" sz="1250" dirty="0"/>
          </a:p>
        </p:txBody>
      </p:sp>
      <p:sp>
        <p:nvSpPr>
          <p:cNvPr id="3" name="Text 1"/>
          <p:cNvSpPr/>
          <p:nvPr/>
        </p:nvSpPr>
        <p:spPr>
          <a:xfrm>
            <a:off x="548640" y="685800"/>
            <a:ext cx="10607040" cy="82296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What Happened During the Attack?</a:t>
            </a:r>
            <a:endParaRPr lang="en-US" sz="3200" dirty="0"/>
          </a:p>
        </p:txBody>
      </p:sp>
      <p:sp>
        <p:nvSpPr>
          <p:cNvPr id="4" name="Shape 2"/>
          <p:cNvSpPr/>
          <p:nvPr/>
        </p:nvSpPr>
        <p:spPr>
          <a:xfrm>
            <a:off x="548640" y="1691640"/>
            <a:ext cx="5943600" cy="4434840"/>
          </a:xfrm>
          <a:prstGeom prst="roundRect">
            <a:avLst>
              <a:gd name="adj" fmla="val 1649"/>
            </a:avLst>
          </a:prstGeom>
          <a:solidFill>
            <a:srgbClr val="112240">
              <a:alpha val="85000"/>
            </a:srgbClr>
          </a:solidFill>
          <a:ln w="9525">
            <a:solidFill>
              <a:srgbClr val="2E86FF">
                <a:alpha val="45000"/>
              </a:srgbClr>
            </a:solidFill>
            <a:prstDash val="solid"/>
          </a:ln>
          <a:effectLst>
            <a:outerShdw sx="100000" sy="100000" kx="0" ky="0" algn="bl" rotWithShape="0" blurRad="101600" dist="38100" dir="5400000">
              <a:srgbClr val="000000">
                <a:alpha val="35000"/>
              </a:srgbClr>
            </a:outerShdw>
          </a:effectLst>
        </p:spPr>
      </p:sp>
      <p:pic>
        <p:nvPicPr>
          <p:cNvPr id="5" name="Image 0" descr="/home/claude/assets/badges/alert_fill.png">    </p:cNvPr>
          <p:cNvPicPr>
            <a:picLocks noChangeAspect="1"/>
          </p:cNvPicPr>
          <p:nvPr/>
        </p:nvPicPr>
        <p:blipFill>
          <a:blip r:embed="rId1"/>
          <a:stretch>
            <a:fillRect/>
          </a:stretch>
        </p:blipFill>
        <p:spPr>
          <a:xfrm>
            <a:off x="749808" y="1892808"/>
            <a:ext cx="457200" cy="457200"/>
          </a:xfrm>
          <a:prstGeom prst="rect">
            <a:avLst/>
          </a:prstGeom>
        </p:spPr>
      </p:pic>
      <p:sp>
        <p:nvSpPr>
          <p:cNvPr id="6" name="Text 3"/>
          <p:cNvSpPr/>
          <p:nvPr/>
        </p:nvSpPr>
        <p:spPr>
          <a:xfrm>
            <a:off x="1371600" y="1874520"/>
            <a:ext cx="493776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 Fast-Moving Global Crisis</a:t>
            </a:r>
            <a:endParaRPr lang="en-US" sz="1600" dirty="0"/>
          </a:p>
        </p:txBody>
      </p:sp>
      <p:sp>
        <p:nvSpPr>
          <p:cNvPr id="7" name="Text 4"/>
          <p:cNvSpPr/>
          <p:nvPr/>
        </p:nvSpPr>
        <p:spPr>
          <a:xfrm>
            <a:off x="777240" y="2468880"/>
            <a:ext cx="5486400" cy="3520440"/>
          </a:xfrm>
          <a:prstGeom prst="rect">
            <a:avLst/>
          </a:prstGeom>
          <a:noFill/>
          <a:ln/>
        </p:spPr>
        <p:txBody>
          <a:bodyPr wrap="square" lIns="0" tIns="0" rIns="0" bIns="0" rtlCol="0" anchor="t"/>
          <a:lstStyle/>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WannaCry scanned the internet for exposed SMBv1 port 445 services</a:t>
            </a:r>
            <a:endParaRPr lang="en-US" sz="1350" dirty="0"/>
          </a:p>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It exploited EternalBlue to install the DoublePulsar backdoor</a:t>
            </a:r>
            <a:endParaRPr lang="en-US" sz="1350" dirty="0"/>
          </a:p>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Files were encrypted using AES-128 and RSA-2048 algorithms</a:t>
            </a:r>
            <a:endParaRPr lang="en-US" sz="1350" dirty="0"/>
          </a:p>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A ransom note demanded $300–$600 in Bitcoin per machine</a:t>
            </a:r>
            <a:endParaRPr lang="en-US" sz="1350" dirty="0"/>
          </a:p>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The worm self-replicated to other vulnerable machines nearby</a:t>
            </a:r>
            <a:endParaRPr lang="en-US" sz="1350" dirty="0"/>
          </a:p>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Payment deadlines and threats of permanent data loss were displayed</a:t>
            </a:r>
            <a:endParaRPr lang="en-US" sz="1350" dirty="0"/>
          </a:p>
        </p:txBody>
      </p:sp>
      <p:sp>
        <p:nvSpPr>
          <p:cNvPr id="8" name="Shape 5"/>
          <p:cNvSpPr/>
          <p:nvPr/>
        </p:nvSpPr>
        <p:spPr>
          <a:xfrm>
            <a:off x="6720840" y="1691640"/>
            <a:ext cx="4937760" cy="4434840"/>
          </a:xfrm>
          <a:prstGeom prst="roundRect">
            <a:avLst>
              <a:gd name="adj" fmla="val 1856"/>
            </a:avLst>
          </a:prstGeom>
          <a:solidFill>
            <a:srgbClr val="1B0F14">
              <a:alpha val="95000"/>
            </a:srgbClr>
          </a:solidFill>
          <a:ln w="12700">
            <a:solidFill>
              <a:srgbClr val="FF5470">
                <a:alpha val="70000"/>
              </a:srgbClr>
            </a:solidFill>
            <a:prstDash val="solid"/>
          </a:ln>
        </p:spPr>
      </p:sp>
      <p:pic>
        <p:nvPicPr>
          <p:cNvPr id="9" name="Image 1" descr="/home/claude/assets/badges/skull_fill.png">    </p:cNvPr>
          <p:cNvPicPr>
            <a:picLocks noChangeAspect="1"/>
          </p:cNvPicPr>
          <p:nvPr/>
        </p:nvPicPr>
        <p:blipFill>
          <a:blip r:embed="rId2"/>
          <a:stretch>
            <a:fillRect/>
          </a:stretch>
        </p:blipFill>
        <p:spPr>
          <a:xfrm>
            <a:off x="8778240" y="1920240"/>
            <a:ext cx="594360" cy="594360"/>
          </a:xfrm>
          <a:prstGeom prst="rect">
            <a:avLst/>
          </a:prstGeom>
        </p:spPr>
      </p:pic>
      <p:sp>
        <p:nvSpPr>
          <p:cNvPr id="10" name="Text 6"/>
          <p:cNvSpPr/>
          <p:nvPr/>
        </p:nvSpPr>
        <p:spPr>
          <a:xfrm>
            <a:off x="6995160" y="2651760"/>
            <a:ext cx="4389120" cy="548640"/>
          </a:xfrm>
          <a:prstGeom prst="rect">
            <a:avLst/>
          </a:prstGeom>
          <a:noFill/>
          <a:ln/>
        </p:spPr>
        <p:txBody>
          <a:bodyPr wrap="square" lIns="0" tIns="0" rIns="0" bIns="0" rtlCol="0" anchor="ctr"/>
          <a:lstStyle/>
          <a:p>
            <a:pPr algn="ctr" indent="0" marL="0">
              <a:buNone/>
            </a:pPr>
            <a:r>
              <a:rPr lang="en-US" sz="1500" b="1" dirty="0">
                <a:solidFill>
                  <a:srgbClr val="FF5470"/>
                </a:solidFill>
                <a:latin typeface="Cambria" pitchFamily="34" charset="0"/>
                <a:ea typeface="Cambria" pitchFamily="34" charset="-122"/>
                <a:cs typeface="Cambria" pitchFamily="34" charset="-120"/>
              </a:rPr>
              <a:t>Ooops, your files have been encrypted!</a:t>
            </a:r>
            <a:endParaRPr lang="en-US" sz="1500" dirty="0"/>
          </a:p>
        </p:txBody>
      </p:sp>
      <p:sp>
        <p:nvSpPr>
          <p:cNvPr id="11" name="Text 7"/>
          <p:cNvSpPr/>
          <p:nvPr/>
        </p:nvSpPr>
        <p:spPr>
          <a:xfrm>
            <a:off x="7178040" y="3246120"/>
            <a:ext cx="4023360" cy="1463040"/>
          </a:xfrm>
          <a:prstGeom prst="rect">
            <a:avLst/>
          </a:prstGeom>
          <a:noFill/>
          <a:ln/>
        </p:spPr>
        <p:txBody>
          <a:bodyPr wrap="square" lIns="0" tIns="0" rIns="0" bIns="0" rtlCol="0" anchor="ctr"/>
          <a:lstStyle/>
          <a:p>
            <a:pPr algn="ctr" indent="0" marL="0">
              <a:lnSpc>
                <a:spcPct val="115000"/>
              </a:lnSpc>
              <a:buNone/>
            </a:pPr>
            <a:r>
              <a:rPr lang="en-US" sz="1200" dirty="0">
                <a:solidFill>
                  <a:srgbClr val="CADCFC"/>
                </a:solidFill>
                <a:latin typeface="Calibri" pitchFamily="34" charset="0"/>
                <a:ea typeface="Calibri" pitchFamily="34" charset="-122"/>
                <a:cs typeface="Calibri" pitchFamily="34" charset="-120"/>
              </a:rPr>
              <a:t>Payment will be raised on
</a:t>
            </a:r>
            <a:endParaRPr lang="en-US" sz="1200" dirty="0"/>
          </a:p>
          <a:p>
            <a:pPr algn="ctr" indent="0" marL="0">
              <a:lnSpc>
                <a:spcPct val="115000"/>
              </a:lnSpc>
              <a:buNone/>
            </a:pPr>
            <a:r>
              <a:rPr lang="en-US" sz="1200" b="1" dirty="0">
                <a:solidFill>
                  <a:srgbClr val="F4B740"/>
                </a:solidFill>
                <a:latin typeface="Calibri" pitchFamily="34" charset="0"/>
                <a:ea typeface="Calibri" pitchFamily="34" charset="-122"/>
                <a:cs typeface="Calibri" pitchFamily="34" charset="-120"/>
              </a:rPr>
              <a:t>5/16/2017 13:14:47</a:t>
            </a:r>
            <a:endParaRPr lang="en-US" sz="1200" dirty="0"/>
          </a:p>
          <a:p>
            <a:pPr algn="ctr" indent="0" marL="0">
              <a:lnSpc>
                <a:spcPct val="115000"/>
              </a:lnSpc>
              <a:buNone/>
            </a:pPr>
            <a:endParaRPr lang="en-US" sz="1200" dirty="0"/>
          </a:p>
          <a:p>
            <a:pPr algn="ctr" indent="0" marL="0">
              <a:lnSpc>
                <a:spcPct val="115000"/>
              </a:lnSpc>
              <a:buNone/>
            </a:pPr>
            <a:r>
              <a:rPr lang="en-US" sz="1200" dirty="0">
                <a:solidFill>
                  <a:srgbClr val="CADCFC"/>
                </a:solidFill>
                <a:latin typeface="Calibri" pitchFamily="34" charset="0"/>
                <a:ea typeface="Calibri" pitchFamily="34" charset="-122"/>
                <a:cs typeface="Calibri" pitchFamily="34" charset="-120"/>
              </a:rPr>
              <a:t>Time Left: </a:t>
            </a:r>
            <a:endParaRPr lang="en-US" sz="1200" dirty="0"/>
          </a:p>
          <a:p>
            <a:pPr algn="ctr" indent="0" marL="0">
              <a:lnSpc>
                <a:spcPct val="115000"/>
              </a:lnSpc>
              <a:buNone/>
            </a:pPr>
            <a:r>
              <a:rPr lang="en-US" sz="1200" b="1" dirty="0">
                <a:solidFill>
                  <a:srgbClr val="FFFFFF"/>
                </a:solidFill>
                <a:latin typeface="Calibri" pitchFamily="34" charset="0"/>
                <a:ea typeface="Calibri" pitchFamily="34" charset="-122"/>
                <a:cs typeface="Calibri" pitchFamily="34" charset="-120"/>
              </a:rPr>
              <a:t>02:23:57:11
</a:t>
            </a:r>
            <a:endParaRPr lang="en-US" sz="1200" dirty="0"/>
          </a:p>
          <a:p>
            <a:pPr algn="ctr" indent="0" marL="0">
              <a:lnSpc>
                <a:spcPct val="115000"/>
              </a:lnSpc>
              <a:buNone/>
            </a:pPr>
            <a:endParaRPr lang="en-US" sz="1200" dirty="0"/>
          </a:p>
          <a:p>
            <a:pPr algn="ctr" indent="0" marL="0">
              <a:lnSpc>
                <a:spcPct val="115000"/>
              </a:lnSpc>
              <a:buNone/>
            </a:pPr>
            <a:r>
              <a:rPr lang="en-US" sz="1200" dirty="0">
                <a:solidFill>
                  <a:srgbClr val="CADCFC"/>
                </a:solidFill>
                <a:latin typeface="Calibri" pitchFamily="34" charset="0"/>
                <a:ea typeface="Calibri" pitchFamily="34" charset="-122"/>
                <a:cs typeface="Calibri" pitchFamily="34" charset="-120"/>
              </a:rPr>
              <a:t>Your files will be lost on</a:t>
            </a:r>
            <a:endParaRPr lang="en-US" sz="1200" dirty="0"/>
          </a:p>
          <a:p>
            <a:pPr algn="ctr" indent="0" marL="0">
              <a:lnSpc>
                <a:spcPct val="115000"/>
              </a:lnSpc>
              <a:buNone/>
            </a:pPr>
            <a:r>
              <a:rPr lang="en-US" sz="1200" dirty="0">
                <a:solidFill>
                  <a:srgbClr val="CADCFC"/>
                </a:solidFill>
                <a:latin typeface="Calibri" pitchFamily="34" charset="0"/>
                <a:ea typeface="Calibri" pitchFamily="34" charset="-122"/>
                <a:cs typeface="Calibri" pitchFamily="34" charset="-120"/>
              </a:rPr>
              <a:t>5/20/2017 13:14:47</a:t>
            </a:r>
            <a:endParaRPr lang="en-US" sz="1200" dirty="0"/>
          </a:p>
        </p:txBody>
      </p:sp>
      <p:sp>
        <p:nvSpPr>
          <p:cNvPr id="12" name="Shape 8"/>
          <p:cNvSpPr/>
          <p:nvPr/>
        </p:nvSpPr>
        <p:spPr>
          <a:xfrm>
            <a:off x="7452360" y="4800600"/>
            <a:ext cx="3474720" cy="502920"/>
          </a:xfrm>
          <a:prstGeom prst="roundRect">
            <a:avLst>
              <a:gd name="adj" fmla="val 50909"/>
            </a:avLst>
          </a:prstGeom>
          <a:solidFill>
            <a:srgbClr val="FF5470">
              <a:alpha val="80000"/>
            </a:srgbClr>
          </a:solidFill>
          <a:ln w="12700">
            <a:solidFill>
              <a:srgbClr val="FF5470"/>
            </a:solidFill>
            <a:prstDash val="solid"/>
          </a:ln>
        </p:spPr>
      </p:sp>
      <p:sp>
        <p:nvSpPr>
          <p:cNvPr id="13" name="Text 9"/>
          <p:cNvSpPr/>
          <p:nvPr/>
        </p:nvSpPr>
        <p:spPr>
          <a:xfrm>
            <a:off x="7452360" y="4800600"/>
            <a:ext cx="34747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Send $300 in Bitcoin to address below</a:t>
            </a:r>
            <a:endParaRPr lang="en-US" sz="1100" dirty="0"/>
          </a:p>
        </p:txBody>
      </p:sp>
      <p:sp>
        <p:nvSpPr>
          <p:cNvPr id="14" name="Text 10"/>
          <p:cNvSpPr/>
          <p:nvPr/>
        </p:nvSpPr>
        <p:spPr>
          <a:xfrm>
            <a:off x="7452360" y="5440680"/>
            <a:ext cx="3474720" cy="320040"/>
          </a:xfrm>
          <a:prstGeom prst="rect">
            <a:avLst/>
          </a:prstGeom>
          <a:noFill/>
          <a:ln/>
        </p:spPr>
        <p:txBody>
          <a:bodyPr wrap="square" lIns="0" tIns="0" rIns="0" bIns="0" rtlCol="0" anchor="ctr"/>
          <a:lstStyle/>
          <a:p>
            <a:pPr algn="ctr" indent="0" marL="0">
              <a:buNone/>
            </a:pPr>
            <a:r>
              <a:rPr lang="en-US" sz="1000" dirty="0">
                <a:solidFill>
                  <a:srgbClr val="8FA9C9"/>
                </a:solidFill>
                <a:latin typeface="Courier New" pitchFamily="34" charset="0"/>
                <a:ea typeface="Courier New" pitchFamily="34" charset="-122"/>
                <a:cs typeface="Courier New" pitchFamily="34" charset="-120"/>
              </a:rPr>
              <a:t>bc1qxy2...9wlh (illustrative)</a:t>
            </a:r>
            <a:endParaRPr lang="en-US" sz="1000" dirty="0"/>
          </a:p>
        </p:txBody>
      </p:sp>
      <p:sp>
        <p:nvSpPr>
          <p:cNvPr id="15" name="Text 11"/>
          <p:cNvSpPr/>
          <p:nvPr/>
        </p:nvSpPr>
        <p:spPr>
          <a:xfrm>
            <a:off x="6995160" y="5779008"/>
            <a:ext cx="4389120" cy="274320"/>
          </a:xfrm>
          <a:prstGeom prst="rect">
            <a:avLst/>
          </a:prstGeom>
          <a:noFill/>
          <a:ln/>
        </p:spPr>
        <p:txBody>
          <a:bodyPr wrap="square" lIns="0" tIns="0" rIns="0" bIns="0" rtlCol="0" anchor="ctr"/>
          <a:lstStyle/>
          <a:p>
            <a:pPr algn="ctr" indent="0" marL="0">
              <a:buNone/>
            </a:pPr>
            <a:r>
              <a:rPr lang="en-US" sz="900" i="1" dirty="0">
                <a:solidFill>
                  <a:srgbClr val="8FA9C9"/>
                </a:solidFill>
                <a:latin typeface="Calibri" pitchFamily="34" charset="0"/>
                <a:ea typeface="Calibri" pitchFamily="34" charset="-122"/>
                <a:cs typeface="Calibri" pitchFamily="34" charset="-120"/>
              </a:rPr>
              <a:t>Illustrative recreation of the WannaCry ransom screen</a:t>
            </a:r>
            <a:endParaRPr lang="en-US" sz="900" dirty="0"/>
          </a:p>
        </p:txBody>
      </p:sp>
      <p:sp>
        <p:nvSpPr>
          <p:cNvPr id="16" name="Text 12"/>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8FA9C9"/>
                </a:solidFill>
                <a:latin typeface="Calibri" pitchFamily="34" charset="0"/>
                <a:ea typeface="Calibri" pitchFamily="34" charset="-122"/>
                <a:cs typeface="Calibri" pitchFamily="34" charset="-120"/>
              </a:rPr>
              <a:t>WANNACRY RANSOMWARE ATTACK  |  CYBERSECURITY SEMINAR</a:t>
            </a:r>
            <a:endParaRPr lang="en-US" sz="900" dirty="0"/>
          </a:p>
        </p:txBody>
      </p:sp>
      <p:sp>
        <p:nvSpPr>
          <p:cNvPr id="17" name="Text 13"/>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8FA9C9"/>
                </a:solidFill>
                <a:latin typeface="Calibri" pitchFamily="34" charset="0"/>
                <a:ea typeface="Calibri" pitchFamily="34" charset="-122"/>
                <a:cs typeface="Calibri" pitchFamily="34" charset="-120"/>
              </a:rPr>
              <a:t>06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3EC6FF"/>
                </a:solidFill>
                <a:latin typeface="Calibri" pitchFamily="34" charset="0"/>
                <a:ea typeface="Calibri" pitchFamily="34" charset="-122"/>
                <a:cs typeface="Calibri" pitchFamily="34" charset="-120"/>
              </a:rPr>
              <a:t>TECHNICAL DEEP DIVE</a:t>
            </a:r>
            <a:endParaRPr lang="en-US" sz="1250" dirty="0"/>
          </a:p>
        </p:txBody>
      </p:sp>
      <p:sp>
        <p:nvSpPr>
          <p:cNvPr id="3" name="Text 1"/>
          <p:cNvSpPr/>
          <p:nvPr/>
        </p:nvSpPr>
        <p:spPr>
          <a:xfrm>
            <a:off x="548640" y="685800"/>
            <a:ext cx="10607040" cy="82296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Technical Analysis &amp; Attack Lifecycle</a:t>
            </a:r>
            <a:endParaRPr lang="en-US" sz="3200" dirty="0"/>
          </a:p>
        </p:txBody>
      </p:sp>
      <p:sp>
        <p:nvSpPr>
          <p:cNvPr id="4" name="Shape 2"/>
          <p:cNvSpPr/>
          <p:nvPr/>
        </p:nvSpPr>
        <p:spPr>
          <a:xfrm>
            <a:off x="548640" y="1965960"/>
            <a:ext cx="1691640" cy="2743200"/>
          </a:xfrm>
          <a:prstGeom prst="roundRect">
            <a:avLst>
              <a:gd name="adj" fmla="val 4865"/>
            </a:avLst>
          </a:prstGeom>
          <a:solidFill>
            <a:srgbClr val="112240">
              <a:alpha val="88000"/>
            </a:srgbClr>
          </a:solidFill>
          <a:ln w="9525">
            <a:solidFill>
              <a:srgbClr val="2E86FF">
                <a:alpha val="50000"/>
              </a:srgbClr>
            </a:solidFill>
            <a:prstDash val="solid"/>
          </a:ln>
        </p:spPr>
      </p:sp>
      <p:pic>
        <p:nvPicPr>
          <p:cNvPr id="5" name="Image 0" descr="/home/claude/assets/badges/search_fill.png">    </p:cNvPr>
          <p:cNvPicPr>
            <a:picLocks noChangeAspect="1"/>
          </p:cNvPicPr>
          <p:nvPr/>
        </p:nvPicPr>
        <p:blipFill>
          <a:blip r:embed="rId1"/>
          <a:stretch>
            <a:fillRect/>
          </a:stretch>
        </p:blipFill>
        <p:spPr>
          <a:xfrm>
            <a:off x="1138428" y="2167128"/>
            <a:ext cx="512064" cy="512064"/>
          </a:xfrm>
          <a:prstGeom prst="rect">
            <a:avLst/>
          </a:prstGeom>
        </p:spPr>
      </p:pic>
      <p:sp>
        <p:nvSpPr>
          <p:cNvPr id="6" name="Text 3"/>
          <p:cNvSpPr/>
          <p:nvPr/>
        </p:nvSpPr>
        <p:spPr>
          <a:xfrm>
            <a:off x="640080" y="2788920"/>
            <a:ext cx="1508760" cy="365760"/>
          </a:xfrm>
          <a:prstGeom prst="rect">
            <a:avLst/>
          </a:prstGeom>
          <a:noFill/>
          <a:ln/>
        </p:spPr>
        <p:txBody>
          <a:bodyPr wrap="square" lIns="0" tIns="0" rIns="0" bIns="0" rtlCol="0" anchor="ctr"/>
          <a:lstStyle/>
          <a:p>
            <a:pPr algn="ctr" indent="0" marL="0">
              <a:buNone/>
            </a:pPr>
            <a:r>
              <a:rPr lang="en-US" sz="1300" b="1" dirty="0">
                <a:solidFill>
                  <a:srgbClr val="3EC6FF"/>
                </a:solidFill>
                <a:latin typeface="Cambria" pitchFamily="34" charset="0"/>
                <a:ea typeface="Cambria" pitchFamily="34" charset="-122"/>
                <a:cs typeface="Cambria" pitchFamily="34" charset="-120"/>
              </a:rPr>
              <a:t>1. Scan</a:t>
            </a:r>
            <a:endParaRPr lang="en-US" sz="1300" dirty="0"/>
          </a:p>
        </p:txBody>
      </p:sp>
      <p:sp>
        <p:nvSpPr>
          <p:cNvPr id="7" name="Text 4"/>
          <p:cNvSpPr/>
          <p:nvPr/>
        </p:nvSpPr>
        <p:spPr>
          <a:xfrm>
            <a:off x="658368" y="3200400"/>
            <a:ext cx="1472184" cy="1371600"/>
          </a:xfrm>
          <a:prstGeom prst="rect">
            <a:avLst/>
          </a:prstGeom>
          <a:noFill/>
          <a:ln/>
        </p:spPr>
        <p:txBody>
          <a:bodyPr wrap="square" lIns="0" tIns="0" rIns="0" bIns="0" rtlCol="0" anchor="t"/>
          <a:lstStyle/>
          <a:p>
            <a:pPr algn="ctr" indent="0" marL="0">
              <a:lnSpc>
                <a:spcPct val="110000"/>
              </a:lnSpc>
              <a:buNone/>
            </a:pPr>
            <a:r>
              <a:rPr lang="en-US" sz="1000" dirty="0">
                <a:solidFill>
                  <a:srgbClr val="CADCFC"/>
                </a:solidFill>
                <a:latin typeface="Calibri" pitchFamily="34" charset="0"/>
                <a:ea typeface="Calibri" pitchFamily="34" charset="-122"/>
                <a:cs typeface="Calibri" pitchFamily="34" charset="-120"/>
              </a:rPr>
              <a:t>Probe internet for open SMBv1 (port 445) services</a:t>
            </a:r>
            <a:endParaRPr lang="en-US" sz="1000" dirty="0"/>
          </a:p>
        </p:txBody>
      </p:sp>
      <p:pic>
        <p:nvPicPr>
          <p:cNvPr id="8" name="Image 1" descr="/home/claude/assets/badges/arrowRight_outline.png">    </p:cNvPr>
          <p:cNvPicPr>
            <a:picLocks noChangeAspect="1"/>
          </p:cNvPicPr>
          <p:nvPr/>
        </p:nvPicPr>
        <p:blipFill>
          <a:blip r:embed="rId2"/>
          <a:stretch>
            <a:fillRect/>
          </a:stretch>
        </p:blipFill>
        <p:spPr>
          <a:xfrm>
            <a:off x="2144268" y="3172968"/>
            <a:ext cx="329184" cy="329184"/>
          </a:xfrm>
          <a:prstGeom prst="rect">
            <a:avLst/>
          </a:prstGeom>
        </p:spPr>
      </p:pic>
      <p:sp>
        <p:nvSpPr>
          <p:cNvPr id="9" name="Shape 5"/>
          <p:cNvSpPr/>
          <p:nvPr/>
        </p:nvSpPr>
        <p:spPr>
          <a:xfrm>
            <a:off x="2377440" y="1965960"/>
            <a:ext cx="1691640" cy="2743200"/>
          </a:xfrm>
          <a:prstGeom prst="roundRect">
            <a:avLst>
              <a:gd name="adj" fmla="val 4865"/>
            </a:avLst>
          </a:prstGeom>
          <a:solidFill>
            <a:srgbClr val="16304F">
              <a:alpha val="88000"/>
            </a:srgbClr>
          </a:solidFill>
          <a:ln w="9525">
            <a:solidFill>
              <a:srgbClr val="2E86FF">
                <a:alpha val="50000"/>
              </a:srgbClr>
            </a:solidFill>
            <a:prstDash val="solid"/>
          </a:ln>
        </p:spPr>
      </p:sp>
      <p:pic>
        <p:nvPicPr>
          <p:cNvPr id="10" name="Image 2" descr="/home/claude/assets/badges/unlock_fill.png">    </p:cNvPr>
          <p:cNvPicPr>
            <a:picLocks noChangeAspect="1"/>
          </p:cNvPicPr>
          <p:nvPr/>
        </p:nvPicPr>
        <p:blipFill>
          <a:blip r:embed="rId3"/>
          <a:stretch>
            <a:fillRect/>
          </a:stretch>
        </p:blipFill>
        <p:spPr>
          <a:xfrm>
            <a:off x="2967228" y="2167128"/>
            <a:ext cx="512064" cy="512064"/>
          </a:xfrm>
          <a:prstGeom prst="rect">
            <a:avLst/>
          </a:prstGeom>
        </p:spPr>
      </p:pic>
      <p:sp>
        <p:nvSpPr>
          <p:cNvPr id="11" name="Text 6"/>
          <p:cNvSpPr/>
          <p:nvPr/>
        </p:nvSpPr>
        <p:spPr>
          <a:xfrm>
            <a:off x="2468880" y="2788920"/>
            <a:ext cx="1508760" cy="365760"/>
          </a:xfrm>
          <a:prstGeom prst="rect">
            <a:avLst/>
          </a:prstGeom>
          <a:noFill/>
          <a:ln/>
        </p:spPr>
        <p:txBody>
          <a:bodyPr wrap="square" lIns="0" tIns="0" rIns="0" bIns="0" rtlCol="0" anchor="ctr"/>
          <a:lstStyle/>
          <a:p>
            <a:pPr algn="ctr" indent="0" marL="0">
              <a:buNone/>
            </a:pPr>
            <a:r>
              <a:rPr lang="en-US" sz="1300" b="1" dirty="0">
                <a:solidFill>
                  <a:srgbClr val="3EC6FF"/>
                </a:solidFill>
                <a:latin typeface="Cambria" pitchFamily="34" charset="0"/>
                <a:ea typeface="Cambria" pitchFamily="34" charset="-122"/>
                <a:cs typeface="Cambria" pitchFamily="34" charset="-120"/>
              </a:rPr>
              <a:t>2. Exploit</a:t>
            </a:r>
            <a:endParaRPr lang="en-US" sz="1300" dirty="0"/>
          </a:p>
        </p:txBody>
      </p:sp>
      <p:sp>
        <p:nvSpPr>
          <p:cNvPr id="12" name="Text 7"/>
          <p:cNvSpPr/>
          <p:nvPr/>
        </p:nvSpPr>
        <p:spPr>
          <a:xfrm>
            <a:off x="2487168" y="3200400"/>
            <a:ext cx="1472184" cy="1371600"/>
          </a:xfrm>
          <a:prstGeom prst="rect">
            <a:avLst/>
          </a:prstGeom>
          <a:noFill/>
          <a:ln/>
        </p:spPr>
        <p:txBody>
          <a:bodyPr wrap="square" lIns="0" tIns="0" rIns="0" bIns="0" rtlCol="0" anchor="t"/>
          <a:lstStyle/>
          <a:p>
            <a:pPr algn="ctr" indent="0" marL="0">
              <a:lnSpc>
                <a:spcPct val="110000"/>
              </a:lnSpc>
              <a:buNone/>
            </a:pPr>
            <a:r>
              <a:rPr lang="en-US" sz="1000" dirty="0">
                <a:solidFill>
                  <a:srgbClr val="CADCFC"/>
                </a:solidFill>
                <a:latin typeface="Calibri" pitchFamily="34" charset="0"/>
                <a:ea typeface="Calibri" pitchFamily="34" charset="-122"/>
                <a:cs typeface="Calibri" pitchFamily="34" charset="-120"/>
              </a:rPr>
              <a:t>Use EternalBlue to breach unpatched Windows hosts</a:t>
            </a:r>
            <a:endParaRPr lang="en-US" sz="1000" dirty="0"/>
          </a:p>
        </p:txBody>
      </p:sp>
      <p:pic>
        <p:nvPicPr>
          <p:cNvPr id="13" name="Image 3" descr="/home/claude/assets/badges/arrowRight_outline.png">    </p:cNvPr>
          <p:cNvPicPr>
            <a:picLocks noChangeAspect="1"/>
          </p:cNvPicPr>
          <p:nvPr/>
        </p:nvPicPr>
        <p:blipFill>
          <a:blip r:embed="rId4"/>
          <a:stretch>
            <a:fillRect/>
          </a:stretch>
        </p:blipFill>
        <p:spPr>
          <a:xfrm>
            <a:off x="3973068" y="3172968"/>
            <a:ext cx="329184" cy="329184"/>
          </a:xfrm>
          <a:prstGeom prst="rect">
            <a:avLst/>
          </a:prstGeom>
        </p:spPr>
      </p:pic>
      <p:sp>
        <p:nvSpPr>
          <p:cNvPr id="14" name="Shape 8"/>
          <p:cNvSpPr/>
          <p:nvPr/>
        </p:nvSpPr>
        <p:spPr>
          <a:xfrm>
            <a:off x="4206240" y="1965960"/>
            <a:ext cx="1691640" cy="2743200"/>
          </a:xfrm>
          <a:prstGeom prst="roundRect">
            <a:avLst>
              <a:gd name="adj" fmla="val 4865"/>
            </a:avLst>
          </a:prstGeom>
          <a:solidFill>
            <a:srgbClr val="112240">
              <a:alpha val="88000"/>
            </a:srgbClr>
          </a:solidFill>
          <a:ln w="9525">
            <a:solidFill>
              <a:srgbClr val="2E86FF">
                <a:alpha val="50000"/>
              </a:srgbClr>
            </a:solidFill>
            <a:prstDash val="solid"/>
          </a:ln>
        </p:spPr>
      </p:sp>
      <p:pic>
        <p:nvPicPr>
          <p:cNvPr id="15" name="Image 4" descr="/home/claude/assets/badges/server_fill.png">    </p:cNvPr>
          <p:cNvPicPr>
            <a:picLocks noChangeAspect="1"/>
          </p:cNvPicPr>
          <p:nvPr/>
        </p:nvPicPr>
        <p:blipFill>
          <a:blip r:embed="rId5"/>
          <a:stretch>
            <a:fillRect/>
          </a:stretch>
        </p:blipFill>
        <p:spPr>
          <a:xfrm>
            <a:off x="4796028" y="2167128"/>
            <a:ext cx="512064" cy="512064"/>
          </a:xfrm>
          <a:prstGeom prst="rect">
            <a:avLst/>
          </a:prstGeom>
        </p:spPr>
      </p:pic>
      <p:sp>
        <p:nvSpPr>
          <p:cNvPr id="16" name="Text 9"/>
          <p:cNvSpPr/>
          <p:nvPr/>
        </p:nvSpPr>
        <p:spPr>
          <a:xfrm>
            <a:off x="4297680" y="2788920"/>
            <a:ext cx="1508760" cy="365760"/>
          </a:xfrm>
          <a:prstGeom prst="rect">
            <a:avLst/>
          </a:prstGeom>
          <a:noFill/>
          <a:ln/>
        </p:spPr>
        <p:txBody>
          <a:bodyPr wrap="square" lIns="0" tIns="0" rIns="0" bIns="0" rtlCol="0" anchor="ctr"/>
          <a:lstStyle/>
          <a:p>
            <a:pPr algn="ctr" indent="0" marL="0">
              <a:buNone/>
            </a:pPr>
            <a:r>
              <a:rPr lang="en-US" sz="1300" b="1" dirty="0">
                <a:solidFill>
                  <a:srgbClr val="3EC6FF"/>
                </a:solidFill>
                <a:latin typeface="Cambria" pitchFamily="34" charset="0"/>
                <a:ea typeface="Cambria" pitchFamily="34" charset="-122"/>
                <a:cs typeface="Cambria" pitchFamily="34" charset="-120"/>
              </a:rPr>
              <a:t>3. Implant</a:t>
            </a:r>
            <a:endParaRPr lang="en-US" sz="1300" dirty="0"/>
          </a:p>
        </p:txBody>
      </p:sp>
      <p:sp>
        <p:nvSpPr>
          <p:cNvPr id="17" name="Text 10"/>
          <p:cNvSpPr/>
          <p:nvPr/>
        </p:nvSpPr>
        <p:spPr>
          <a:xfrm>
            <a:off x="4315968" y="3200400"/>
            <a:ext cx="1472184" cy="1371600"/>
          </a:xfrm>
          <a:prstGeom prst="rect">
            <a:avLst/>
          </a:prstGeom>
          <a:noFill/>
          <a:ln/>
        </p:spPr>
        <p:txBody>
          <a:bodyPr wrap="square" lIns="0" tIns="0" rIns="0" bIns="0" rtlCol="0" anchor="t"/>
          <a:lstStyle/>
          <a:p>
            <a:pPr algn="ctr" indent="0" marL="0">
              <a:lnSpc>
                <a:spcPct val="110000"/>
              </a:lnSpc>
              <a:buNone/>
            </a:pPr>
            <a:r>
              <a:rPr lang="en-US" sz="1000" dirty="0">
                <a:solidFill>
                  <a:srgbClr val="CADCFC"/>
                </a:solidFill>
                <a:latin typeface="Calibri" pitchFamily="34" charset="0"/>
                <a:ea typeface="Calibri" pitchFamily="34" charset="-122"/>
                <a:cs typeface="Calibri" pitchFamily="34" charset="-120"/>
              </a:rPr>
              <a:t>Install DoublePulsar backdoor for remote code execution</a:t>
            </a:r>
            <a:endParaRPr lang="en-US" sz="1000" dirty="0"/>
          </a:p>
        </p:txBody>
      </p:sp>
      <p:pic>
        <p:nvPicPr>
          <p:cNvPr id="18" name="Image 5" descr="/home/claude/assets/badges/arrowRight_outline.png">    </p:cNvPr>
          <p:cNvPicPr>
            <a:picLocks noChangeAspect="1"/>
          </p:cNvPicPr>
          <p:nvPr/>
        </p:nvPicPr>
        <p:blipFill>
          <a:blip r:embed="rId6"/>
          <a:stretch>
            <a:fillRect/>
          </a:stretch>
        </p:blipFill>
        <p:spPr>
          <a:xfrm>
            <a:off x="5801868" y="3172968"/>
            <a:ext cx="329184" cy="329184"/>
          </a:xfrm>
          <a:prstGeom prst="rect">
            <a:avLst/>
          </a:prstGeom>
        </p:spPr>
      </p:pic>
      <p:sp>
        <p:nvSpPr>
          <p:cNvPr id="19" name="Shape 11"/>
          <p:cNvSpPr/>
          <p:nvPr/>
        </p:nvSpPr>
        <p:spPr>
          <a:xfrm>
            <a:off x="6035040" y="1965960"/>
            <a:ext cx="1691640" cy="2743200"/>
          </a:xfrm>
          <a:prstGeom prst="roundRect">
            <a:avLst>
              <a:gd name="adj" fmla="val 4865"/>
            </a:avLst>
          </a:prstGeom>
          <a:solidFill>
            <a:srgbClr val="16304F">
              <a:alpha val="88000"/>
            </a:srgbClr>
          </a:solidFill>
          <a:ln w="9525">
            <a:solidFill>
              <a:srgbClr val="2E86FF">
                <a:alpha val="50000"/>
              </a:srgbClr>
            </a:solidFill>
            <a:prstDash val="solid"/>
          </a:ln>
        </p:spPr>
      </p:sp>
      <p:pic>
        <p:nvPicPr>
          <p:cNvPr id="20" name="Image 6" descr="/home/claude/assets/badges/lock_fill.png">    </p:cNvPr>
          <p:cNvPicPr>
            <a:picLocks noChangeAspect="1"/>
          </p:cNvPicPr>
          <p:nvPr/>
        </p:nvPicPr>
        <p:blipFill>
          <a:blip r:embed="rId7"/>
          <a:stretch>
            <a:fillRect/>
          </a:stretch>
        </p:blipFill>
        <p:spPr>
          <a:xfrm>
            <a:off x="6624828" y="2167128"/>
            <a:ext cx="512064" cy="512064"/>
          </a:xfrm>
          <a:prstGeom prst="rect">
            <a:avLst/>
          </a:prstGeom>
        </p:spPr>
      </p:pic>
      <p:sp>
        <p:nvSpPr>
          <p:cNvPr id="21" name="Text 12"/>
          <p:cNvSpPr/>
          <p:nvPr/>
        </p:nvSpPr>
        <p:spPr>
          <a:xfrm>
            <a:off x="6126480" y="2788920"/>
            <a:ext cx="1508760" cy="365760"/>
          </a:xfrm>
          <a:prstGeom prst="rect">
            <a:avLst/>
          </a:prstGeom>
          <a:noFill/>
          <a:ln/>
        </p:spPr>
        <p:txBody>
          <a:bodyPr wrap="square" lIns="0" tIns="0" rIns="0" bIns="0" rtlCol="0" anchor="ctr"/>
          <a:lstStyle/>
          <a:p>
            <a:pPr algn="ctr" indent="0" marL="0">
              <a:buNone/>
            </a:pPr>
            <a:r>
              <a:rPr lang="en-US" sz="1300" b="1" dirty="0">
                <a:solidFill>
                  <a:srgbClr val="3EC6FF"/>
                </a:solidFill>
                <a:latin typeface="Cambria" pitchFamily="34" charset="0"/>
                <a:ea typeface="Cambria" pitchFamily="34" charset="-122"/>
                <a:cs typeface="Cambria" pitchFamily="34" charset="-120"/>
              </a:rPr>
              <a:t>4. Encrypt</a:t>
            </a:r>
            <a:endParaRPr lang="en-US" sz="1300" dirty="0"/>
          </a:p>
        </p:txBody>
      </p:sp>
      <p:sp>
        <p:nvSpPr>
          <p:cNvPr id="22" name="Text 13"/>
          <p:cNvSpPr/>
          <p:nvPr/>
        </p:nvSpPr>
        <p:spPr>
          <a:xfrm>
            <a:off x="6144768" y="3200400"/>
            <a:ext cx="1472184" cy="1371600"/>
          </a:xfrm>
          <a:prstGeom prst="rect">
            <a:avLst/>
          </a:prstGeom>
          <a:noFill/>
          <a:ln/>
        </p:spPr>
        <p:txBody>
          <a:bodyPr wrap="square" lIns="0" tIns="0" rIns="0" bIns="0" rtlCol="0" anchor="t"/>
          <a:lstStyle/>
          <a:p>
            <a:pPr algn="ctr" indent="0" marL="0">
              <a:lnSpc>
                <a:spcPct val="110000"/>
              </a:lnSpc>
              <a:buNone/>
            </a:pPr>
            <a:r>
              <a:rPr lang="en-US" sz="1000" dirty="0">
                <a:solidFill>
                  <a:srgbClr val="CADCFC"/>
                </a:solidFill>
                <a:latin typeface="Calibri" pitchFamily="34" charset="0"/>
                <a:ea typeface="Calibri" pitchFamily="34" charset="-122"/>
                <a:cs typeface="Calibri" pitchFamily="34" charset="-120"/>
              </a:rPr>
              <a:t>Encrypt files with AES-128 keys, wrapped in RSA-2048</a:t>
            </a:r>
            <a:endParaRPr lang="en-US" sz="1000" dirty="0"/>
          </a:p>
        </p:txBody>
      </p:sp>
      <p:pic>
        <p:nvPicPr>
          <p:cNvPr id="23" name="Image 7" descr="/home/claude/assets/badges/arrowRight_outline.png">    </p:cNvPr>
          <p:cNvPicPr>
            <a:picLocks noChangeAspect="1"/>
          </p:cNvPicPr>
          <p:nvPr/>
        </p:nvPicPr>
        <p:blipFill>
          <a:blip r:embed="rId8"/>
          <a:stretch>
            <a:fillRect/>
          </a:stretch>
        </p:blipFill>
        <p:spPr>
          <a:xfrm>
            <a:off x="7630668" y="3172968"/>
            <a:ext cx="329184" cy="329184"/>
          </a:xfrm>
          <a:prstGeom prst="rect">
            <a:avLst/>
          </a:prstGeom>
        </p:spPr>
      </p:pic>
      <p:sp>
        <p:nvSpPr>
          <p:cNvPr id="24" name="Shape 14"/>
          <p:cNvSpPr/>
          <p:nvPr/>
        </p:nvSpPr>
        <p:spPr>
          <a:xfrm>
            <a:off x="7863840" y="1965960"/>
            <a:ext cx="1691640" cy="2743200"/>
          </a:xfrm>
          <a:prstGeom prst="roundRect">
            <a:avLst>
              <a:gd name="adj" fmla="val 4865"/>
            </a:avLst>
          </a:prstGeom>
          <a:solidFill>
            <a:srgbClr val="112240">
              <a:alpha val="88000"/>
            </a:srgbClr>
          </a:solidFill>
          <a:ln w="9525">
            <a:solidFill>
              <a:srgbClr val="2E86FF">
                <a:alpha val="50000"/>
              </a:srgbClr>
            </a:solidFill>
            <a:prstDash val="solid"/>
          </a:ln>
        </p:spPr>
      </p:sp>
      <p:pic>
        <p:nvPicPr>
          <p:cNvPr id="25" name="Image 8" descr="/home/claude/assets/badges/bitcoin_fill.png">    </p:cNvPr>
          <p:cNvPicPr>
            <a:picLocks noChangeAspect="1"/>
          </p:cNvPicPr>
          <p:nvPr/>
        </p:nvPicPr>
        <p:blipFill>
          <a:blip r:embed="rId9"/>
          <a:stretch>
            <a:fillRect/>
          </a:stretch>
        </p:blipFill>
        <p:spPr>
          <a:xfrm>
            <a:off x="8453628" y="2167128"/>
            <a:ext cx="512064" cy="512064"/>
          </a:xfrm>
          <a:prstGeom prst="rect">
            <a:avLst/>
          </a:prstGeom>
        </p:spPr>
      </p:pic>
      <p:sp>
        <p:nvSpPr>
          <p:cNvPr id="26" name="Text 15"/>
          <p:cNvSpPr/>
          <p:nvPr/>
        </p:nvSpPr>
        <p:spPr>
          <a:xfrm>
            <a:off x="7955280" y="2788920"/>
            <a:ext cx="1508760" cy="365760"/>
          </a:xfrm>
          <a:prstGeom prst="rect">
            <a:avLst/>
          </a:prstGeom>
          <a:noFill/>
          <a:ln/>
        </p:spPr>
        <p:txBody>
          <a:bodyPr wrap="square" lIns="0" tIns="0" rIns="0" bIns="0" rtlCol="0" anchor="ctr"/>
          <a:lstStyle/>
          <a:p>
            <a:pPr algn="ctr" indent="0" marL="0">
              <a:buNone/>
            </a:pPr>
            <a:r>
              <a:rPr lang="en-US" sz="1300" b="1" dirty="0">
                <a:solidFill>
                  <a:srgbClr val="3EC6FF"/>
                </a:solidFill>
                <a:latin typeface="Cambria" pitchFamily="34" charset="0"/>
                <a:ea typeface="Cambria" pitchFamily="34" charset="-122"/>
                <a:cs typeface="Cambria" pitchFamily="34" charset="-120"/>
              </a:rPr>
              <a:t>5. Extort</a:t>
            </a:r>
            <a:endParaRPr lang="en-US" sz="1300" dirty="0"/>
          </a:p>
        </p:txBody>
      </p:sp>
      <p:sp>
        <p:nvSpPr>
          <p:cNvPr id="27" name="Text 16"/>
          <p:cNvSpPr/>
          <p:nvPr/>
        </p:nvSpPr>
        <p:spPr>
          <a:xfrm>
            <a:off x="7973568" y="3200400"/>
            <a:ext cx="1472184" cy="1371600"/>
          </a:xfrm>
          <a:prstGeom prst="rect">
            <a:avLst/>
          </a:prstGeom>
          <a:noFill/>
          <a:ln/>
        </p:spPr>
        <p:txBody>
          <a:bodyPr wrap="square" lIns="0" tIns="0" rIns="0" bIns="0" rtlCol="0" anchor="t"/>
          <a:lstStyle/>
          <a:p>
            <a:pPr algn="ctr" indent="0" marL="0">
              <a:lnSpc>
                <a:spcPct val="110000"/>
              </a:lnSpc>
              <a:buNone/>
            </a:pPr>
            <a:r>
              <a:rPr lang="en-US" sz="1000" dirty="0">
                <a:solidFill>
                  <a:srgbClr val="CADCFC"/>
                </a:solidFill>
                <a:latin typeface="Calibri" pitchFamily="34" charset="0"/>
                <a:ea typeface="Calibri" pitchFamily="34" charset="-122"/>
                <a:cs typeface="Calibri" pitchFamily="34" charset="-120"/>
              </a:rPr>
              <a:t>Display ransom note demanding Bitcoin payment</a:t>
            </a:r>
            <a:endParaRPr lang="en-US" sz="1000" dirty="0"/>
          </a:p>
        </p:txBody>
      </p:sp>
      <p:pic>
        <p:nvPicPr>
          <p:cNvPr id="28" name="Image 9" descr="/home/claude/assets/badges/arrowRight_outline.png">    </p:cNvPr>
          <p:cNvPicPr>
            <a:picLocks noChangeAspect="1"/>
          </p:cNvPicPr>
          <p:nvPr/>
        </p:nvPicPr>
        <p:blipFill>
          <a:blip r:embed="rId10"/>
          <a:stretch>
            <a:fillRect/>
          </a:stretch>
        </p:blipFill>
        <p:spPr>
          <a:xfrm>
            <a:off x="9459468" y="3172968"/>
            <a:ext cx="329184" cy="329184"/>
          </a:xfrm>
          <a:prstGeom prst="rect">
            <a:avLst/>
          </a:prstGeom>
        </p:spPr>
      </p:pic>
      <p:sp>
        <p:nvSpPr>
          <p:cNvPr id="29" name="Shape 17"/>
          <p:cNvSpPr/>
          <p:nvPr/>
        </p:nvSpPr>
        <p:spPr>
          <a:xfrm>
            <a:off x="9692640" y="1965960"/>
            <a:ext cx="1691640" cy="2743200"/>
          </a:xfrm>
          <a:prstGeom prst="roundRect">
            <a:avLst>
              <a:gd name="adj" fmla="val 4865"/>
            </a:avLst>
          </a:prstGeom>
          <a:solidFill>
            <a:srgbClr val="16304F">
              <a:alpha val="88000"/>
            </a:srgbClr>
          </a:solidFill>
          <a:ln w="9525">
            <a:solidFill>
              <a:srgbClr val="2E86FF">
                <a:alpha val="50000"/>
              </a:srgbClr>
            </a:solidFill>
            <a:prstDash val="solid"/>
          </a:ln>
        </p:spPr>
      </p:sp>
      <p:pic>
        <p:nvPicPr>
          <p:cNvPr id="30" name="Image 10" descr="/home/claude/assets/badges/worm_fill.png">    </p:cNvPr>
          <p:cNvPicPr>
            <a:picLocks noChangeAspect="1"/>
          </p:cNvPicPr>
          <p:nvPr/>
        </p:nvPicPr>
        <p:blipFill>
          <a:blip r:embed="rId11"/>
          <a:stretch>
            <a:fillRect/>
          </a:stretch>
        </p:blipFill>
        <p:spPr>
          <a:xfrm>
            <a:off x="10282428" y="2167128"/>
            <a:ext cx="512064" cy="512064"/>
          </a:xfrm>
          <a:prstGeom prst="rect">
            <a:avLst/>
          </a:prstGeom>
        </p:spPr>
      </p:pic>
      <p:sp>
        <p:nvSpPr>
          <p:cNvPr id="31" name="Text 18"/>
          <p:cNvSpPr/>
          <p:nvPr/>
        </p:nvSpPr>
        <p:spPr>
          <a:xfrm>
            <a:off x="9784080" y="2788920"/>
            <a:ext cx="1508760" cy="365760"/>
          </a:xfrm>
          <a:prstGeom prst="rect">
            <a:avLst/>
          </a:prstGeom>
          <a:noFill/>
          <a:ln/>
        </p:spPr>
        <p:txBody>
          <a:bodyPr wrap="square" lIns="0" tIns="0" rIns="0" bIns="0" rtlCol="0" anchor="ctr"/>
          <a:lstStyle/>
          <a:p>
            <a:pPr algn="ctr" indent="0" marL="0">
              <a:buNone/>
            </a:pPr>
            <a:r>
              <a:rPr lang="en-US" sz="1300" b="1" dirty="0">
                <a:solidFill>
                  <a:srgbClr val="3EC6FF"/>
                </a:solidFill>
                <a:latin typeface="Cambria" pitchFamily="34" charset="0"/>
                <a:ea typeface="Cambria" pitchFamily="34" charset="-122"/>
                <a:cs typeface="Cambria" pitchFamily="34" charset="-120"/>
              </a:rPr>
              <a:t>6. Propagate</a:t>
            </a:r>
            <a:endParaRPr lang="en-US" sz="1300" dirty="0"/>
          </a:p>
        </p:txBody>
      </p:sp>
      <p:sp>
        <p:nvSpPr>
          <p:cNvPr id="32" name="Text 19"/>
          <p:cNvSpPr/>
          <p:nvPr/>
        </p:nvSpPr>
        <p:spPr>
          <a:xfrm>
            <a:off x="9802368" y="3200400"/>
            <a:ext cx="1472184" cy="1371600"/>
          </a:xfrm>
          <a:prstGeom prst="rect">
            <a:avLst/>
          </a:prstGeom>
          <a:noFill/>
          <a:ln/>
        </p:spPr>
        <p:txBody>
          <a:bodyPr wrap="square" lIns="0" tIns="0" rIns="0" bIns="0" rtlCol="0" anchor="t"/>
          <a:lstStyle/>
          <a:p>
            <a:pPr algn="ctr" indent="0" marL="0">
              <a:lnSpc>
                <a:spcPct val="110000"/>
              </a:lnSpc>
              <a:buNone/>
            </a:pPr>
            <a:r>
              <a:rPr lang="en-US" sz="1000" dirty="0">
                <a:solidFill>
                  <a:srgbClr val="CADCFC"/>
                </a:solidFill>
                <a:latin typeface="Calibri" pitchFamily="34" charset="0"/>
                <a:ea typeface="Calibri" pitchFamily="34" charset="-122"/>
                <a:cs typeface="Calibri" pitchFamily="34" charset="-120"/>
              </a:rPr>
              <a:t>Self-replicate to other reachable vulnerable machines</a:t>
            </a:r>
            <a:endParaRPr lang="en-US" sz="1000" dirty="0"/>
          </a:p>
        </p:txBody>
      </p:sp>
      <p:sp>
        <p:nvSpPr>
          <p:cNvPr id="33" name="Shape 20"/>
          <p:cNvSpPr/>
          <p:nvPr/>
        </p:nvSpPr>
        <p:spPr>
          <a:xfrm>
            <a:off x="548640" y="4892040"/>
            <a:ext cx="10607040" cy="1417320"/>
          </a:xfrm>
          <a:prstGeom prst="roundRect">
            <a:avLst>
              <a:gd name="adj" fmla="val 5161"/>
            </a:avLst>
          </a:prstGeom>
          <a:solidFill>
            <a:srgbClr val="112240">
              <a:alpha val="85000"/>
            </a:srgbClr>
          </a:solidFill>
          <a:ln w="9525">
            <a:solidFill>
              <a:srgbClr val="2E86FF">
                <a:alpha val="45000"/>
              </a:srgbClr>
            </a:solidFill>
            <a:prstDash val="solid"/>
          </a:ln>
          <a:effectLst>
            <a:outerShdw sx="100000" sy="100000" kx="0" ky="0" algn="bl" rotWithShape="0" blurRad="101600" dist="38100" dir="5400000">
              <a:srgbClr val="000000">
                <a:alpha val="35000"/>
              </a:srgbClr>
            </a:outerShdw>
          </a:effectLst>
        </p:spPr>
      </p:sp>
      <p:pic>
        <p:nvPicPr>
          <p:cNvPr id="34" name="Image 11" descr="/home/claude/assets/badges/shield_fill.png">    </p:cNvPr>
          <p:cNvPicPr>
            <a:picLocks noChangeAspect="1"/>
          </p:cNvPicPr>
          <p:nvPr/>
        </p:nvPicPr>
        <p:blipFill>
          <a:blip r:embed="rId12"/>
          <a:stretch>
            <a:fillRect/>
          </a:stretch>
        </p:blipFill>
        <p:spPr>
          <a:xfrm>
            <a:off x="749808" y="5093208"/>
            <a:ext cx="457200" cy="457200"/>
          </a:xfrm>
          <a:prstGeom prst="rect">
            <a:avLst/>
          </a:prstGeom>
        </p:spPr>
      </p:pic>
      <p:sp>
        <p:nvSpPr>
          <p:cNvPr id="35" name="Text 21"/>
          <p:cNvSpPr/>
          <p:nvPr/>
        </p:nvSpPr>
        <p:spPr>
          <a:xfrm>
            <a:off x="1371600" y="5074920"/>
            <a:ext cx="960120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Kill-Switch Discovery</a:t>
            </a:r>
            <a:endParaRPr lang="en-US" sz="1600" dirty="0"/>
          </a:p>
        </p:txBody>
      </p:sp>
      <p:sp>
        <p:nvSpPr>
          <p:cNvPr id="36" name="Text 22"/>
          <p:cNvSpPr/>
          <p:nvPr/>
        </p:nvSpPr>
        <p:spPr>
          <a:xfrm>
            <a:off x="777240" y="5669280"/>
            <a:ext cx="10149840" cy="502920"/>
          </a:xfrm>
          <a:prstGeom prst="rect">
            <a:avLst/>
          </a:prstGeom>
          <a:noFill/>
          <a:ln/>
        </p:spPr>
        <p:txBody>
          <a:bodyPr wrap="square" lIns="0" tIns="0" rIns="0" bIns="0" rtlCol="0" anchor="t"/>
          <a:lstStyle/>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WannaCry checked for an unregistered domain before encrypting — a built-in "off switch"</a:t>
            </a:r>
            <a:endParaRPr lang="en-US" sz="1350" dirty="0"/>
          </a:p>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A UK researcher registered the domain on May 13, 2017, halting the original variant's spread</a:t>
            </a:r>
            <a:endParaRPr lang="en-US" sz="1350" dirty="0"/>
          </a:p>
        </p:txBody>
      </p:sp>
      <p:sp>
        <p:nvSpPr>
          <p:cNvPr id="37" name="Text 23"/>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8FA9C9"/>
                </a:solidFill>
                <a:latin typeface="Calibri" pitchFamily="34" charset="0"/>
                <a:ea typeface="Calibri" pitchFamily="34" charset="-122"/>
                <a:cs typeface="Calibri" pitchFamily="34" charset="-120"/>
              </a:rPr>
              <a:t>WANNACRY RANSOMWARE ATTACK  |  CYBERSECURITY SEMINAR</a:t>
            </a:r>
            <a:endParaRPr lang="en-US" sz="900" dirty="0"/>
          </a:p>
        </p:txBody>
      </p:sp>
      <p:sp>
        <p:nvSpPr>
          <p:cNvPr id="38" name="Text 24"/>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8FA9C9"/>
                </a:solidFill>
                <a:latin typeface="Calibri" pitchFamily="34" charset="0"/>
                <a:ea typeface="Calibri" pitchFamily="34" charset="-122"/>
                <a:cs typeface="Calibri" pitchFamily="34" charset="-120"/>
              </a:rPr>
              <a:t>07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3EC6FF"/>
                </a:solidFill>
                <a:latin typeface="Calibri" pitchFamily="34" charset="0"/>
                <a:ea typeface="Calibri" pitchFamily="34" charset="-122"/>
                <a:cs typeface="Calibri" pitchFamily="34" charset="-120"/>
              </a:rPr>
              <a:t>GLOBAL IMPACT</a:t>
            </a:r>
            <a:endParaRPr lang="en-US" sz="1250" dirty="0"/>
          </a:p>
        </p:txBody>
      </p:sp>
      <p:sp>
        <p:nvSpPr>
          <p:cNvPr id="3" name="Text 1"/>
          <p:cNvSpPr/>
          <p:nvPr/>
        </p:nvSpPr>
        <p:spPr>
          <a:xfrm>
            <a:off x="548640" y="685800"/>
            <a:ext cx="10607040" cy="82296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Impact on Victims &amp; Organisations</a:t>
            </a:r>
            <a:endParaRPr lang="en-US" sz="3200" dirty="0"/>
          </a:p>
        </p:txBody>
      </p:sp>
      <p:sp>
        <p:nvSpPr>
          <p:cNvPr id="4" name="Shape 2"/>
          <p:cNvSpPr/>
          <p:nvPr/>
        </p:nvSpPr>
        <p:spPr>
          <a:xfrm>
            <a:off x="548640" y="1783080"/>
            <a:ext cx="3337560" cy="1371600"/>
          </a:xfrm>
          <a:prstGeom prst="roundRect">
            <a:avLst>
              <a:gd name="adj" fmla="val 6000"/>
            </a:avLst>
          </a:prstGeom>
          <a:solidFill>
            <a:srgbClr val="112240">
              <a:alpha val="88000"/>
            </a:srgbClr>
          </a:solidFill>
          <a:ln w="9525">
            <a:solidFill>
              <a:srgbClr val="2E86FF">
                <a:alpha val="50000"/>
              </a:srgbClr>
            </a:solidFill>
            <a:prstDash val="solid"/>
          </a:ln>
        </p:spPr>
      </p:sp>
      <p:pic>
        <p:nvPicPr>
          <p:cNvPr id="5" name="Image 0" descr="/home/claude/assets/badges/hospital_fill.png">    </p:cNvPr>
          <p:cNvPicPr>
            <a:picLocks noChangeAspect="1"/>
          </p:cNvPicPr>
          <p:nvPr/>
        </p:nvPicPr>
        <p:blipFill>
          <a:blip r:embed="rId1"/>
          <a:stretch>
            <a:fillRect/>
          </a:stretch>
        </p:blipFill>
        <p:spPr>
          <a:xfrm>
            <a:off x="731520" y="1965960"/>
            <a:ext cx="502920" cy="502920"/>
          </a:xfrm>
          <a:prstGeom prst="rect">
            <a:avLst/>
          </a:prstGeom>
        </p:spPr>
      </p:pic>
      <p:sp>
        <p:nvSpPr>
          <p:cNvPr id="6" name="Text 3"/>
          <p:cNvSpPr/>
          <p:nvPr/>
        </p:nvSpPr>
        <p:spPr>
          <a:xfrm>
            <a:off x="1371600" y="1920240"/>
            <a:ext cx="2331720" cy="41148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NHS (United Kingdom)</a:t>
            </a:r>
            <a:endParaRPr lang="en-US" sz="1300" dirty="0"/>
          </a:p>
        </p:txBody>
      </p:sp>
      <p:sp>
        <p:nvSpPr>
          <p:cNvPr id="7" name="Text 4"/>
          <p:cNvSpPr/>
          <p:nvPr/>
        </p:nvSpPr>
        <p:spPr>
          <a:xfrm>
            <a:off x="731520" y="2441448"/>
            <a:ext cx="2971800" cy="594360"/>
          </a:xfrm>
          <a:prstGeom prst="rect">
            <a:avLst/>
          </a:prstGeom>
          <a:noFill/>
          <a:ln/>
        </p:spPr>
        <p:txBody>
          <a:bodyPr wrap="square" lIns="0" tIns="0" rIns="0" bIns="0" rtlCol="0" anchor="t"/>
          <a:lstStyle/>
          <a:p>
            <a:pPr indent="0" marL="0">
              <a:lnSpc>
                <a:spcPct val="110000"/>
              </a:lnSpc>
              <a:buNone/>
            </a:pPr>
            <a:r>
              <a:rPr lang="en-US" sz="1030" dirty="0">
                <a:solidFill>
                  <a:srgbClr val="CADCFC"/>
                </a:solidFill>
                <a:latin typeface="Calibri" pitchFamily="34" charset="0"/>
                <a:ea typeface="Calibri" pitchFamily="34" charset="-122"/>
                <a:cs typeface="Calibri" pitchFamily="34" charset="-120"/>
              </a:rPr>
              <a:t>Over 80 hospital trusts disrupted; appointments and surgeries cancelled or delayed.</a:t>
            </a:r>
            <a:endParaRPr lang="en-US" sz="1030" dirty="0"/>
          </a:p>
        </p:txBody>
      </p:sp>
      <p:sp>
        <p:nvSpPr>
          <p:cNvPr id="8" name="Shape 5"/>
          <p:cNvSpPr/>
          <p:nvPr/>
        </p:nvSpPr>
        <p:spPr>
          <a:xfrm>
            <a:off x="4160520" y="1783080"/>
            <a:ext cx="3337560" cy="1371600"/>
          </a:xfrm>
          <a:prstGeom prst="roundRect">
            <a:avLst>
              <a:gd name="adj" fmla="val 6000"/>
            </a:avLst>
          </a:prstGeom>
          <a:solidFill>
            <a:srgbClr val="112240">
              <a:alpha val="88000"/>
            </a:srgbClr>
          </a:solidFill>
          <a:ln w="9525">
            <a:solidFill>
              <a:srgbClr val="2E86FF">
                <a:alpha val="50000"/>
              </a:srgbClr>
            </a:solidFill>
            <a:prstDash val="solid"/>
          </a:ln>
        </p:spPr>
      </p:sp>
      <p:pic>
        <p:nvPicPr>
          <p:cNvPr id="9" name="Image 1" descr="/home/claude/assets/badges/industry_fill.png">    </p:cNvPr>
          <p:cNvPicPr>
            <a:picLocks noChangeAspect="1"/>
          </p:cNvPicPr>
          <p:nvPr/>
        </p:nvPicPr>
        <p:blipFill>
          <a:blip r:embed="rId2"/>
          <a:stretch>
            <a:fillRect/>
          </a:stretch>
        </p:blipFill>
        <p:spPr>
          <a:xfrm>
            <a:off x="4343400" y="1965960"/>
            <a:ext cx="502920" cy="502920"/>
          </a:xfrm>
          <a:prstGeom prst="rect">
            <a:avLst/>
          </a:prstGeom>
        </p:spPr>
      </p:pic>
      <p:sp>
        <p:nvSpPr>
          <p:cNvPr id="10" name="Text 6"/>
          <p:cNvSpPr/>
          <p:nvPr/>
        </p:nvSpPr>
        <p:spPr>
          <a:xfrm>
            <a:off x="4983480" y="1920240"/>
            <a:ext cx="2331720" cy="41148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Renault &amp; Nissan</a:t>
            </a:r>
            <a:endParaRPr lang="en-US" sz="1300" dirty="0"/>
          </a:p>
        </p:txBody>
      </p:sp>
      <p:sp>
        <p:nvSpPr>
          <p:cNvPr id="11" name="Text 7"/>
          <p:cNvSpPr/>
          <p:nvPr/>
        </p:nvSpPr>
        <p:spPr>
          <a:xfrm>
            <a:off x="4343400" y="2441448"/>
            <a:ext cx="2971800" cy="594360"/>
          </a:xfrm>
          <a:prstGeom prst="rect">
            <a:avLst/>
          </a:prstGeom>
          <a:noFill/>
          <a:ln/>
        </p:spPr>
        <p:txBody>
          <a:bodyPr wrap="square" lIns="0" tIns="0" rIns="0" bIns="0" rtlCol="0" anchor="t"/>
          <a:lstStyle/>
          <a:p>
            <a:pPr indent="0" marL="0">
              <a:lnSpc>
                <a:spcPct val="110000"/>
              </a:lnSpc>
              <a:buNone/>
            </a:pPr>
            <a:r>
              <a:rPr lang="en-US" sz="1030" dirty="0">
                <a:solidFill>
                  <a:srgbClr val="CADCFC"/>
                </a:solidFill>
                <a:latin typeface="Calibri" pitchFamily="34" charset="0"/>
                <a:ea typeface="Calibri" pitchFamily="34" charset="-122"/>
                <a:cs typeface="Calibri" pitchFamily="34" charset="-120"/>
              </a:rPr>
              <a:t>Automotive production paused at multiple manufacturing plants in Europe.</a:t>
            </a:r>
            <a:endParaRPr lang="en-US" sz="1030" dirty="0"/>
          </a:p>
        </p:txBody>
      </p:sp>
      <p:sp>
        <p:nvSpPr>
          <p:cNvPr id="12" name="Shape 8"/>
          <p:cNvSpPr/>
          <p:nvPr/>
        </p:nvSpPr>
        <p:spPr>
          <a:xfrm>
            <a:off x="7772400" y="1783080"/>
            <a:ext cx="3337560" cy="1371600"/>
          </a:xfrm>
          <a:prstGeom prst="roundRect">
            <a:avLst>
              <a:gd name="adj" fmla="val 6000"/>
            </a:avLst>
          </a:prstGeom>
          <a:solidFill>
            <a:srgbClr val="112240">
              <a:alpha val="88000"/>
            </a:srgbClr>
          </a:solidFill>
          <a:ln w="9525">
            <a:solidFill>
              <a:srgbClr val="2E86FF">
                <a:alpha val="50000"/>
              </a:srgbClr>
            </a:solidFill>
            <a:prstDash val="solid"/>
          </a:ln>
        </p:spPr>
      </p:sp>
      <p:pic>
        <p:nvPicPr>
          <p:cNvPr id="13" name="Image 2" descr="/home/claude/assets/badges/bank_fill.png">    </p:cNvPr>
          <p:cNvPicPr>
            <a:picLocks noChangeAspect="1"/>
          </p:cNvPicPr>
          <p:nvPr/>
        </p:nvPicPr>
        <p:blipFill>
          <a:blip r:embed="rId3"/>
          <a:stretch>
            <a:fillRect/>
          </a:stretch>
        </p:blipFill>
        <p:spPr>
          <a:xfrm>
            <a:off x="7955280" y="1965960"/>
            <a:ext cx="502920" cy="502920"/>
          </a:xfrm>
          <a:prstGeom prst="rect">
            <a:avLst/>
          </a:prstGeom>
        </p:spPr>
      </p:pic>
      <p:sp>
        <p:nvSpPr>
          <p:cNvPr id="14" name="Text 9"/>
          <p:cNvSpPr/>
          <p:nvPr/>
        </p:nvSpPr>
        <p:spPr>
          <a:xfrm>
            <a:off x="8595360" y="1920240"/>
            <a:ext cx="2331720" cy="41148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Telefónica (Spain)</a:t>
            </a:r>
            <a:endParaRPr lang="en-US" sz="1300" dirty="0"/>
          </a:p>
        </p:txBody>
      </p:sp>
      <p:sp>
        <p:nvSpPr>
          <p:cNvPr id="15" name="Text 10"/>
          <p:cNvSpPr/>
          <p:nvPr/>
        </p:nvSpPr>
        <p:spPr>
          <a:xfrm>
            <a:off x="7955280" y="2441448"/>
            <a:ext cx="2971800" cy="594360"/>
          </a:xfrm>
          <a:prstGeom prst="rect">
            <a:avLst/>
          </a:prstGeom>
          <a:noFill/>
          <a:ln/>
        </p:spPr>
        <p:txBody>
          <a:bodyPr wrap="square" lIns="0" tIns="0" rIns="0" bIns="0" rtlCol="0" anchor="t"/>
          <a:lstStyle/>
          <a:p>
            <a:pPr indent="0" marL="0">
              <a:lnSpc>
                <a:spcPct val="110000"/>
              </a:lnSpc>
              <a:buNone/>
            </a:pPr>
            <a:r>
              <a:rPr lang="en-US" sz="1030" dirty="0">
                <a:solidFill>
                  <a:srgbClr val="CADCFC"/>
                </a:solidFill>
                <a:latin typeface="Calibri" pitchFamily="34" charset="0"/>
                <a:ea typeface="Calibri" pitchFamily="34" charset="-122"/>
                <a:cs typeface="Calibri" pitchFamily="34" charset="-120"/>
              </a:rPr>
              <a:t>Major telecom operator's internal network was significantly affected.</a:t>
            </a:r>
            <a:endParaRPr lang="en-US" sz="1030" dirty="0"/>
          </a:p>
        </p:txBody>
      </p:sp>
      <p:sp>
        <p:nvSpPr>
          <p:cNvPr id="16" name="Shape 11"/>
          <p:cNvSpPr/>
          <p:nvPr/>
        </p:nvSpPr>
        <p:spPr>
          <a:xfrm>
            <a:off x="548640" y="3410712"/>
            <a:ext cx="3337560" cy="1371600"/>
          </a:xfrm>
          <a:prstGeom prst="roundRect">
            <a:avLst>
              <a:gd name="adj" fmla="val 6000"/>
            </a:avLst>
          </a:prstGeom>
          <a:solidFill>
            <a:srgbClr val="112240">
              <a:alpha val="88000"/>
            </a:srgbClr>
          </a:solidFill>
          <a:ln w="9525">
            <a:solidFill>
              <a:srgbClr val="2E86FF">
                <a:alpha val="50000"/>
              </a:srgbClr>
            </a:solidFill>
            <a:prstDash val="solid"/>
          </a:ln>
        </p:spPr>
      </p:sp>
      <p:pic>
        <p:nvPicPr>
          <p:cNvPr id="17" name="Image 3" descr="/home/claude/assets/badges/building_fill.png">    </p:cNvPr>
          <p:cNvPicPr>
            <a:picLocks noChangeAspect="1"/>
          </p:cNvPicPr>
          <p:nvPr/>
        </p:nvPicPr>
        <p:blipFill>
          <a:blip r:embed="rId4"/>
          <a:stretch>
            <a:fillRect/>
          </a:stretch>
        </p:blipFill>
        <p:spPr>
          <a:xfrm>
            <a:off x="731520" y="3593592"/>
            <a:ext cx="502920" cy="502920"/>
          </a:xfrm>
          <a:prstGeom prst="rect">
            <a:avLst/>
          </a:prstGeom>
        </p:spPr>
      </p:pic>
      <p:sp>
        <p:nvSpPr>
          <p:cNvPr id="18" name="Text 12"/>
          <p:cNvSpPr/>
          <p:nvPr/>
        </p:nvSpPr>
        <p:spPr>
          <a:xfrm>
            <a:off x="1371600" y="3547872"/>
            <a:ext cx="2331720" cy="41148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FedEx / TNT Express</a:t>
            </a:r>
            <a:endParaRPr lang="en-US" sz="1300" dirty="0"/>
          </a:p>
        </p:txBody>
      </p:sp>
      <p:sp>
        <p:nvSpPr>
          <p:cNvPr id="19" name="Text 13"/>
          <p:cNvSpPr/>
          <p:nvPr/>
        </p:nvSpPr>
        <p:spPr>
          <a:xfrm>
            <a:off x="731520" y="4069080"/>
            <a:ext cx="2971800" cy="594360"/>
          </a:xfrm>
          <a:prstGeom prst="rect">
            <a:avLst/>
          </a:prstGeom>
          <a:noFill/>
          <a:ln/>
        </p:spPr>
        <p:txBody>
          <a:bodyPr wrap="square" lIns="0" tIns="0" rIns="0" bIns="0" rtlCol="0" anchor="t"/>
          <a:lstStyle/>
          <a:p>
            <a:pPr indent="0" marL="0">
              <a:lnSpc>
                <a:spcPct val="110000"/>
              </a:lnSpc>
              <a:buNone/>
            </a:pPr>
            <a:r>
              <a:rPr lang="en-US" sz="1030" dirty="0">
                <a:solidFill>
                  <a:srgbClr val="CADCFC"/>
                </a:solidFill>
                <a:latin typeface="Calibri" pitchFamily="34" charset="0"/>
                <a:ea typeface="Calibri" pitchFamily="34" charset="-122"/>
                <a:cs typeface="Calibri" pitchFamily="34" charset="-120"/>
              </a:rPr>
              <a:t>Logistics operations disrupted, with lasting financial impact reported.</a:t>
            </a:r>
            <a:endParaRPr lang="en-US" sz="1030" dirty="0"/>
          </a:p>
        </p:txBody>
      </p:sp>
      <p:sp>
        <p:nvSpPr>
          <p:cNvPr id="20" name="Shape 14"/>
          <p:cNvSpPr/>
          <p:nvPr/>
        </p:nvSpPr>
        <p:spPr>
          <a:xfrm>
            <a:off x="4160520" y="3410712"/>
            <a:ext cx="3337560" cy="1371600"/>
          </a:xfrm>
          <a:prstGeom prst="roundRect">
            <a:avLst>
              <a:gd name="adj" fmla="val 6000"/>
            </a:avLst>
          </a:prstGeom>
          <a:solidFill>
            <a:srgbClr val="112240">
              <a:alpha val="88000"/>
            </a:srgbClr>
          </a:solidFill>
          <a:ln w="9525">
            <a:solidFill>
              <a:srgbClr val="2E86FF">
                <a:alpha val="50000"/>
              </a:srgbClr>
            </a:solidFill>
            <a:prstDash val="solid"/>
          </a:ln>
        </p:spPr>
      </p:sp>
      <p:pic>
        <p:nvPicPr>
          <p:cNvPr id="21" name="Image 4" descr="/home/claude/assets/badges/landmark_fill.png">    </p:cNvPr>
          <p:cNvPicPr>
            <a:picLocks noChangeAspect="1"/>
          </p:cNvPicPr>
          <p:nvPr/>
        </p:nvPicPr>
        <p:blipFill>
          <a:blip r:embed="rId5"/>
          <a:stretch>
            <a:fillRect/>
          </a:stretch>
        </p:blipFill>
        <p:spPr>
          <a:xfrm>
            <a:off x="4343400" y="3593592"/>
            <a:ext cx="502920" cy="502920"/>
          </a:xfrm>
          <a:prstGeom prst="rect">
            <a:avLst/>
          </a:prstGeom>
        </p:spPr>
      </p:pic>
      <p:sp>
        <p:nvSpPr>
          <p:cNvPr id="22" name="Text 15"/>
          <p:cNvSpPr/>
          <p:nvPr/>
        </p:nvSpPr>
        <p:spPr>
          <a:xfrm>
            <a:off x="4983480" y="3547872"/>
            <a:ext cx="2331720" cy="41148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Russian Ministries</a:t>
            </a:r>
            <a:endParaRPr lang="en-US" sz="1300" dirty="0"/>
          </a:p>
        </p:txBody>
      </p:sp>
      <p:sp>
        <p:nvSpPr>
          <p:cNvPr id="23" name="Text 16"/>
          <p:cNvSpPr/>
          <p:nvPr/>
        </p:nvSpPr>
        <p:spPr>
          <a:xfrm>
            <a:off x="4343400" y="4069080"/>
            <a:ext cx="2971800" cy="594360"/>
          </a:xfrm>
          <a:prstGeom prst="rect">
            <a:avLst/>
          </a:prstGeom>
          <a:noFill/>
          <a:ln/>
        </p:spPr>
        <p:txBody>
          <a:bodyPr wrap="square" lIns="0" tIns="0" rIns="0" bIns="0" rtlCol="0" anchor="t"/>
          <a:lstStyle/>
          <a:p>
            <a:pPr indent="0" marL="0">
              <a:lnSpc>
                <a:spcPct val="110000"/>
              </a:lnSpc>
              <a:buNone/>
            </a:pPr>
            <a:r>
              <a:rPr lang="en-US" sz="1030" dirty="0">
                <a:solidFill>
                  <a:srgbClr val="CADCFC"/>
                </a:solidFill>
                <a:latin typeface="Calibri" pitchFamily="34" charset="0"/>
                <a:ea typeface="Calibri" pitchFamily="34" charset="-122"/>
                <a:cs typeface="Calibri" pitchFamily="34" charset="-120"/>
              </a:rPr>
              <a:t>Interior Ministry and other government systems reported infections.</a:t>
            </a:r>
            <a:endParaRPr lang="en-US" sz="1030" dirty="0"/>
          </a:p>
        </p:txBody>
      </p:sp>
      <p:sp>
        <p:nvSpPr>
          <p:cNvPr id="24" name="Shape 17"/>
          <p:cNvSpPr/>
          <p:nvPr/>
        </p:nvSpPr>
        <p:spPr>
          <a:xfrm>
            <a:off x="7772400" y="3410712"/>
            <a:ext cx="3337560" cy="1371600"/>
          </a:xfrm>
          <a:prstGeom prst="roundRect">
            <a:avLst>
              <a:gd name="adj" fmla="val 6000"/>
            </a:avLst>
          </a:prstGeom>
          <a:solidFill>
            <a:srgbClr val="112240">
              <a:alpha val="88000"/>
            </a:srgbClr>
          </a:solidFill>
          <a:ln w="9525">
            <a:solidFill>
              <a:srgbClr val="2E86FF">
                <a:alpha val="50000"/>
              </a:srgbClr>
            </a:solidFill>
            <a:prstDash val="solid"/>
          </a:ln>
        </p:spPr>
      </p:sp>
      <p:pic>
        <p:nvPicPr>
          <p:cNvPr id="25" name="Image 5" descr="/home/claude/assets/badges/gradCap_fill.png">    </p:cNvPr>
          <p:cNvPicPr>
            <a:picLocks noChangeAspect="1"/>
          </p:cNvPicPr>
          <p:nvPr/>
        </p:nvPicPr>
        <p:blipFill>
          <a:blip r:embed="rId6"/>
          <a:stretch>
            <a:fillRect/>
          </a:stretch>
        </p:blipFill>
        <p:spPr>
          <a:xfrm>
            <a:off x="7955280" y="3593592"/>
            <a:ext cx="502920" cy="502920"/>
          </a:xfrm>
          <a:prstGeom prst="rect">
            <a:avLst/>
          </a:prstGeom>
        </p:spPr>
      </p:pic>
      <p:sp>
        <p:nvSpPr>
          <p:cNvPr id="26" name="Text 18"/>
          <p:cNvSpPr/>
          <p:nvPr/>
        </p:nvSpPr>
        <p:spPr>
          <a:xfrm>
            <a:off x="8595360" y="3547872"/>
            <a:ext cx="2331720" cy="41148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Universities &amp; Schools</a:t>
            </a:r>
            <a:endParaRPr lang="en-US" sz="1300" dirty="0"/>
          </a:p>
        </p:txBody>
      </p:sp>
      <p:sp>
        <p:nvSpPr>
          <p:cNvPr id="27" name="Text 19"/>
          <p:cNvSpPr/>
          <p:nvPr/>
        </p:nvSpPr>
        <p:spPr>
          <a:xfrm>
            <a:off x="7955280" y="4069080"/>
            <a:ext cx="2971800" cy="594360"/>
          </a:xfrm>
          <a:prstGeom prst="rect">
            <a:avLst/>
          </a:prstGeom>
          <a:noFill/>
          <a:ln/>
        </p:spPr>
        <p:txBody>
          <a:bodyPr wrap="square" lIns="0" tIns="0" rIns="0" bIns="0" rtlCol="0" anchor="t"/>
          <a:lstStyle/>
          <a:p>
            <a:pPr indent="0" marL="0">
              <a:lnSpc>
                <a:spcPct val="110000"/>
              </a:lnSpc>
              <a:buNone/>
            </a:pPr>
            <a:r>
              <a:rPr lang="en-US" sz="1030" dirty="0">
                <a:solidFill>
                  <a:srgbClr val="CADCFC"/>
                </a:solidFill>
                <a:latin typeface="Calibri" pitchFamily="34" charset="0"/>
                <a:ea typeface="Calibri" pitchFamily="34" charset="-122"/>
                <a:cs typeface="Calibri" pitchFamily="34" charset="-120"/>
              </a:rPr>
              <a:t>Academic institutions across China and beyond faced network outages.</a:t>
            </a:r>
            <a:endParaRPr lang="en-US" sz="1030" dirty="0"/>
          </a:p>
        </p:txBody>
      </p:sp>
      <p:sp>
        <p:nvSpPr>
          <p:cNvPr id="28" name="Text 20"/>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8FA9C9"/>
                </a:solidFill>
                <a:latin typeface="Calibri" pitchFamily="34" charset="0"/>
                <a:ea typeface="Calibri" pitchFamily="34" charset="-122"/>
                <a:cs typeface="Calibri" pitchFamily="34" charset="-120"/>
              </a:rPr>
              <a:t>WANNACRY RANSOMWARE ATTACK  |  CYBERSECURITY SEMINAR</a:t>
            </a:r>
            <a:endParaRPr lang="en-US" sz="900" dirty="0"/>
          </a:p>
        </p:txBody>
      </p:sp>
      <p:sp>
        <p:nvSpPr>
          <p:cNvPr id="29" name="Text 21"/>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8FA9C9"/>
                </a:solidFill>
                <a:latin typeface="Calibri" pitchFamily="34" charset="0"/>
                <a:ea typeface="Calibri" pitchFamily="34" charset="-122"/>
                <a:cs typeface="Calibri" pitchFamily="34" charset="-120"/>
              </a:rPr>
              <a:t>08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3EC6FF"/>
                </a:solidFill>
                <a:latin typeface="Calibri" pitchFamily="34" charset="0"/>
                <a:ea typeface="Calibri" pitchFamily="34" charset="-122"/>
                <a:cs typeface="Calibri" pitchFamily="34" charset="-120"/>
              </a:rPr>
              <a:t>RESPONSE &amp; RECOVERY</a:t>
            </a:r>
            <a:endParaRPr lang="en-US" sz="1250" dirty="0"/>
          </a:p>
        </p:txBody>
      </p:sp>
      <p:sp>
        <p:nvSpPr>
          <p:cNvPr id="3" name="Text 1"/>
          <p:cNvSpPr/>
          <p:nvPr/>
        </p:nvSpPr>
        <p:spPr>
          <a:xfrm>
            <a:off x="548640" y="685800"/>
            <a:ext cx="10607040" cy="82296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Government Response &amp; Recovery Process</a:t>
            </a:r>
            <a:endParaRPr lang="en-US" sz="3200" dirty="0"/>
          </a:p>
        </p:txBody>
      </p:sp>
      <p:sp>
        <p:nvSpPr>
          <p:cNvPr id="4" name="Shape 2"/>
          <p:cNvSpPr/>
          <p:nvPr/>
        </p:nvSpPr>
        <p:spPr>
          <a:xfrm>
            <a:off x="548640" y="1691640"/>
            <a:ext cx="5212080" cy="4434840"/>
          </a:xfrm>
          <a:prstGeom prst="roundRect">
            <a:avLst>
              <a:gd name="adj" fmla="val 1649"/>
            </a:avLst>
          </a:prstGeom>
          <a:solidFill>
            <a:srgbClr val="112240">
              <a:alpha val="85000"/>
            </a:srgbClr>
          </a:solidFill>
          <a:ln w="9525">
            <a:solidFill>
              <a:srgbClr val="2E86FF">
                <a:alpha val="45000"/>
              </a:srgbClr>
            </a:solidFill>
            <a:prstDash val="solid"/>
          </a:ln>
          <a:effectLst>
            <a:outerShdw sx="100000" sy="100000" kx="0" ky="0" algn="bl" rotWithShape="0" blurRad="101600" dist="38100" dir="5400000">
              <a:srgbClr val="000000">
                <a:alpha val="35000"/>
              </a:srgbClr>
            </a:outerShdw>
          </a:effectLst>
        </p:spPr>
      </p:sp>
      <p:pic>
        <p:nvPicPr>
          <p:cNvPr id="5" name="Image 0" descr="/home/claude/assets/badges/landmark_fill.png">    </p:cNvPr>
          <p:cNvPicPr>
            <a:picLocks noChangeAspect="1"/>
          </p:cNvPicPr>
          <p:nvPr/>
        </p:nvPicPr>
        <p:blipFill>
          <a:blip r:embed="rId1"/>
          <a:stretch>
            <a:fillRect/>
          </a:stretch>
        </p:blipFill>
        <p:spPr>
          <a:xfrm>
            <a:off x="749808" y="1892808"/>
            <a:ext cx="457200" cy="457200"/>
          </a:xfrm>
          <a:prstGeom prst="rect">
            <a:avLst/>
          </a:prstGeom>
        </p:spPr>
      </p:pic>
      <p:sp>
        <p:nvSpPr>
          <p:cNvPr id="6" name="Text 3"/>
          <p:cNvSpPr/>
          <p:nvPr/>
        </p:nvSpPr>
        <p:spPr>
          <a:xfrm>
            <a:off x="1371600" y="1874520"/>
            <a:ext cx="420624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Coordinated Response Actions</a:t>
            </a:r>
            <a:endParaRPr lang="en-US" sz="1600" dirty="0"/>
          </a:p>
        </p:txBody>
      </p:sp>
      <p:sp>
        <p:nvSpPr>
          <p:cNvPr id="7" name="Text 4"/>
          <p:cNvSpPr/>
          <p:nvPr/>
        </p:nvSpPr>
        <p:spPr>
          <a:xfrm>
            <a:off x="777240" y="2468880"/>
            <a:ext cx="4754880" cy="3520440"/>
          </a:xfrm>
          <a:prstGeom prst="rect">
            <a:avLst/>
          </a:prstGeom>
          <a:noFill/>
          <a:ln/>
        </p:spPr>
        <p:txBody>
          <a:bodyPr wrap="square" lIns="0" tIns="0" rIns="0" bIns="0" rtlCol="0" anchor="t"/>
          <a:lstStyle/>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National CERTs issued urgent advisories and patch guidance</a:t>
            </a:r>
            <a:endParaRPr lang="en-US" sz="1350" dirty="0"/>
          </a:p>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Microsoft took the rare step of patching unsupported systems (XP, 2003)</a:t>
            </a:r>
            <a:endParaRPr lang="en-US" sz="1350" dirty="0"/>
          </a:p>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Europol and the FBI launched coordinated cybercrime investigations</a:t>
            </a:r>
            <a:endParaRPr lang="en-US" sz="1350" dirty="0"/>
          </a:p>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Security vendors published detection signatures and decryption tools</a:t>
            </a:r>
            <a:endParaRPr lang="en-US" sz="1350" dirty="0"/>
          </a:p>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NHS Digital and IT teams isolated infected systems and restored backups</a:t>
            </a:r>
            <a:endParaRPr lang="en-US" sz="1350" dirty="0"/>
          </a:p>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International agencies shared threat intelligence to track attribution</a:t>
            </a:r>
            <a:endParaRPr lang="en-US" sz="1350" dirty="0"/>
          </a:p>
        </p:txBody>
      </p:sp>
      <p:sp>
        <p:nvSpPr>
          <p:cNvPr id="8" name="Shape 5"/>
          <p:cNvSpPr/>
          <p:nvPr/>
        </p:nvSpPr>
        <p:spPr>
          <a:xfrm>
            <a:off x="6720840" y="1691640"/>
            <a:ext cx="4892040" cy="1005840"/>
          </a:xfrm>
          <a:prstGeom prst="roundRect">
            <a:avLst>
              <a:gd name="adj" fmla="val 7273"/>
            </a:avLst>
          </a:prstGeom>
          <a:solidFill>
            <a:srgbClr val="16304F">
              <a:alpha val="85000"/>
            </a:srgbClr>
          </a:solidFill>
          <a:ln w="9525">
            <a:solidFill>
              <a:srgbClr val="2E86FF">
                <a:alpha val="50000"/>
              </a:srgbClr>
            </a:solidFill>
            <a:prstDash val="solid"/>
          </a:ln>
        </p:spPr>
      </p:sp>
      <p:pic>
        <p:nvPicPr>
          <p:cNvPr id="9" name="Image 1" descr="/home/claude/assets/badges/wrench_fill.png">    </p:cNvPr>
          <p:cNvPicPr>
            <a:picLocks noChangeAspect="1"/>
          </p:cNvPicPr>
          <p:nvPr/>
        </p:nvPicPr>
        <p:blipFill>
          <a:blip r:embed="rId2"/>
          <a:stretch>
            <a:fillRect/>
          </a:stretch>
        </p:blipFill>
        <p:spPr>
          <a:xfrm>
            <a:off x="6903720" y="1938528"/>
            <a:ext cx="512064" cy="512064"/>
          </a:xfrm>
          <a:prstGeom prst="rect">
            <a:avLst/>
          </a:prstGeom>
        </p:spPr>
      </p:pic>
      <p:sp>
        <p:nvSpPr>
          <p:cNvPr id="10" name="Text 6"/>
          <p:cNvSpPr/>
          <p:nvPr/>
        </p:nvSpPr>
        <p:spPr>
          <a:xfrm>
            <a:off x="7589520" y="1783080"/>
            <a:ext cx="3931920" cy="365760"/>
          </a:xfrm>
          <a:prstGeom prst="rect">
            <a:avLst/>
          </a:prstGeom>
          <a:noFill/>
          <a:ln/>
        </p:spPr>
        <p:txBody>
          <a:bodyPr wrap="square" lIns="0" tIns="0" rIns="0" bIns="0" rtlCol="0" anchor="ctr"/>
          <a:lstStyle/>
          <a:p>
            <a:pPr indent="0" marL="0">
              <a:buNone/>
            </a:pPr>
            <a:r>
              <a:rPr lang="en-US" sz="1350" b="1" dirty="0">
                <a:solidFill>
                  <a:srgbClr val="3EC6FF"/>
                </a:solidFill>
                <a:latin typeface="Cambria" pitchFamily="34" charset="0"/>
                <a:ea typeface="Cambria" pitchFamily="34" charset="-122"/>
                <a:cs typeface="Cambria" pitchFamily="34" charset="-120"/>
              </a:rPr>
              <a:t>Patch &amp; Isolate</a:t>
            </a:r>
            <a:endParaRPr lang="en-US" sz="1350" dirty="0"/>
          </a:p>
        </p:txBody>
      </p:sp>
      <p:sp>
        <p:nvSpPr>
          <p:cNvPr id="11" name="Text 7"/>
          <p:cNvSpPr/>
          <p:nvPr/>
        </p:nvSpPr>
        <p:spPr>
          <a:xfrm>
            <a:off x="7589520" y="2148840"/>
            <a:ext cx="3931920" cy="502920"/>
          </a:xfrm>
          <a:prstGeom prst="rect">
            <a:avLst/>
          </a:prstGeom>
          <a:noFill/>
          <a:ln/>
        </p:spPr>
        <p:txBody>
          <a:bodyPr wrap="square" lIns="0" tIns="0" rIns="0" bIns="0" rtlCol="0" anchor="t"/>
          <a:lstStyle/>
          <a:p>
            <a:pPr indent="0" marL="0">
              <a:buNone/>
            </a:pPr>
            <a:r>
              <a:rPr lang="en-US" sz="1080" dirty="0">
                <a:solidFill>
                  <a:srgbClr val="CADCFC"/>
                </a:solidFill>
                <a:latin typeface="Calibri" pitchFamily="34" charset="0"/>
                <a:ea typeface="Calibri" pitchFamily="34" charset="-122"/>
                <a:cs typeface="Calibri" pitchFamily="34" charset="-120"/>
              </a:rPr>
              <a:t>Apply MS17-010, disable SMBv1, segment networks</a:t>
            </a:r>
            <a:endParaRPr lang="en-US" sz="1080" dirty="0"/>
          </a:p>
        </p:txBody>
      </p:sp>
      <p:sp>
        <p:nvSpPr>
          <p:cNvPr id="12" name="Shape 8"/>
          <p:cNvSpPr/>
          <p:nvPr/>
        </p:nvSpPr>
        <p:spPr>
          <a:xfrm>
            <a:off x="6720840" y="2862072"/>
            <a:ext cx="4892040" cy="1005840"/>
          </a:xfrm>
          <a:prstGeom prst="roundRect">
            <a:avLst>
              <a:gd name="adj" fmla="val 7273"/>
            </a:avLst>
          </a:prstGeom>
          <a:solidFill>
            <a:srgbClr val="16304F">
              <a:alpha val="85000"/>
            </a:srgbClr>
          </a:solidFill>
          <a:ln w="9525">
            <a:solidFill>
              <a:srgbClr val="2E86FF">
                <a:alpha val="50000"/>
              </a:srgbClr>
            </a:solidFill>
            <a:prstDash val="solid"/>
          </a:ln>
        </p:spPr>
      </p:sp>
      <p:pic>
        <p:nvPicPr>
          <p:cNvPr id="13" name="Image 2" descr="/home/claude/assets/badges/clipboard_fill.png">    </p:cNvPr>
          <p:cNvPicPr>
            <a:picLocks noChangeAspect="1"/>
          </p:cNvPicPr>
          <p:nvPr/>
        </p:nvPicPr>
        <p:blipFill>
          <a:blip r:embed="rId3"/>
          <a:stretch>
            <a:fillRect/>
          </a:stretch>
        </p:blipFill>
        <p:spPr>
          <a:xfrm>
            <a:off x="6903720" y="3108960"/>
            <a:ext cx="512064" cy="512064"/>
          </a:xfrm>
          <a:prstGeom prst="rect">
            <a:avLst/>
          </a:prstGeom>
        </p:spPr>
      </p:pic>
      <p:sp>
        <p:nvSpPr>
          <p:cNvPr id="14" name="Text 9"/>
          <p:cNvSpPr/>
          <p:nvPr/>
        </p:nvSpPr>
        <p:spPr>
          <a:xfrm>
            <a:off x="7589520" y="2953512"/>
            <a:ext cx="3931920" cy="365760"/>
          </a:xfrm>
          <a:prstGeom prst="rect">
            <a:avLst/>
          </a:prstGeom>
          <a:noFill/>
          <a:ln/>
        </p:spPr>
        <p:txBody>
          <a:bodyPr wrap="square" lIns="0" tIns="0" rIns="0" bIns="0" rtlCol="0" anchor="ctr"/>
          <a:lstStyle/>
          <a:p>
            <a:pPr indent="0" marL="0">
              <a:buNone/>
            </a:pPr>
            <a:r>
              <a:rPr lang="en-US" sz="1350" b="1" dirty="0">
                <a:solidFill>
                  <a:srgbClr val="3EC6FF"/>
                </a:solidFill>
                <a:latin typeface="Cambria" pitchFamily="34" charset="0"/>
                <a:ea typeface="Cambria" pitchFamily="34" charset="-122"/>
                <a:cs typeface="Cambria" pitchFamily="34" charset="-120"/>
              </a:rPr>
              <a:t>Assess &amp; Restore</a:t>
            </a:r>
            <a:endParaRPr lang="en-US" sz="1350" dirty="0"/>
          </a:p>
        </p:txBody>
      </p:sp>
      <p:sp>
        <p:nvSpPr>
          <p:cNvPr id="15" name="Text 10"/>
          <p:cNvSpPr/>
          <p:nvPr/>
        </p:nvSpPr>
        <p:spPr>
          <a:xfrm>
            <a:off x="7589520" y="3319272"/>
            <a:ext cx="3931920" cy="502920"/>
          </a:xfrm>
          <a:prstGeom prst="rect">
            <a:avLst/>
          </a:prstGeom>
          <a:noFill/>
          <a:ln/>
        </p:spPr>
        <p:txBody>
          <a:bodyPr wrap="square" lIns="0" tIns="0" rIns="0" bIns="0" rtlCol="0" anchor="t"/>
          <a:lstStyle/>
          <a:p>
            <a:pPr indent="0" marL="0">
              <a:buNone/>
            </a:pPr>
            <a:r>
              <a:rPr lang="en-US" sz="1080" dirty="0">
                <a:solidFill>
                  <a:srgbClr val="CADCFC"/>
                </a:solidFill>
                <a:latin typeface="Calibri" pitchFamily="34" charset="0"/>
                <a:ea typeface="Calibri" pitchFamily="34" charset="-122"/>
                <a:cs typeface="Calibri" pitchFamily="34" charset="-120"/>
              </a:rPr>
              <a:t>Identify infected assets, restore from clean backups</a:t>
            </a:r>
            <a:endParaRPr lang="en-US" sz="1080" dirty="0"/>
          </a:p>
        </p:txBody>
      </p:sp>
      <p:sp>
        <p:nvSpPr>
          <p:cNvPr id="16" name="Shape 11"/>
          <p:cNvSpPr/>
          <p:nvPr/>
        </p:nvSpPr>
        <p:spPr>
          <a:xfrm>
            <a:off x="6720840" y="4032504"/>
            <a:ext cx="4892040" cy="1005840"/>
          </a:xfrm>
          <a:prstGeom prst="roundRect">
            <a:avLst>
              <a:gd name="adj" fmla="val 7273"/>
            </a:avLst>
          </a:prstGeom>
          <a:solidFill>
            <a:srgbClr val="16304F">
              <a:alpha val="85000"/>
            </a:srgbClr>
          </a:solidFill>
          <a:ln w="9525">
            <a:solidFill>
              <a:srgbClr val="2E86FF">
                <a:alpha val="50000"/>
              </a:srgbClr>
            </a:solidFill>
            <a:prstDash val="solid"/>
          </a:ln>
        </p:spPr>
      </p:sp>
      <p:pic>
        <p:nvPicPr>
          <p:cNvPr id="17" name="Image 3" descr="/home/claude/assets/badges/users_fill.png">    </p:cNvPr>
          <p:cNvPicPr>
            <a:picLocks noChangeAspect="1"/>
          </p:cNvPicPr>
          <p:nvPr/>
        </p:nvPicPr>
        <p:blipFill>
          <a:blip r:embed="rId4"/>
          <a:stretch>
            <a:fillRect/>
          </a:stretch>
        </p:blipFill>
        <p:spPr>
          <a:xfrm>
            <a:off x="6903720" y="4279392"/>
            <a:ext cx="512064" cy="512064"/>
          </a:xfrm>
          <a:prstGeom prst="rect">
            <a:avLst/>
          </a:prstGeom>
        </p:spPr>
      </p:pic>
      <p:sp>
        <p:nvSpPr>
          <p:cNvPr id="18" name="Text 12"/>
          <p:cNvSpPr/>
          <p:nvPr/>
        </p:nvSpPr>
        <p:spPr>
          <a:xfrm>
            <a:off x="7589520" y="4123944"/>
            <a:ext cx="3931920" cy="365760"/>
          </a:xfrm>
          <a:prstGeom prst="rect">
            <a:avLst/>
          </a:prstGeom>
          <a:noFill/>
          <a:ln/>
        </p:spPr>
        <p:txBody>
          <a:bodyPr wrap="square" lIns="0" tIns="0" rIns="0" bIns="0" rtlCol="0" anchor="ctr"/>
          <a:lstStyle/>
          <a:p>
            <a:pPr indent="0" marL="0">
              <a:buNone/>
            </a:pPr>
            <a:r>
              <a:rPr lang="en-US" sz="1350" b="1" dirty="0">
                <a:solidFill>
                  <a:srgbClr val="3EC6FF"/>
                </a:solidFill>
                <a:latin typeface="Cambria" pitchFamily="34" charset="0"/>
                <a:ea typeface="Cambria" pitchFamily="34" charset="-122"/>
                <a:cs typeface="Cambria" pitchFamily="34" charset="-120"/>
              </a:rPr>
              <a:t>Communicate</a:t>
            </a:r>
            <a:endParaRPr lang="en-US" sz="1350" dirty="0"/>
          </a:p>
        </p:txBody>
      </p:sp>
      <p:sp>
        <p:nvSpPr>
          <p:cNvPr id="19" name="Text 13"/>
          <p:cNvSpPr/>
          <p:nvPr/>
        </p:nvSpPr>
        <p:spPr>
          <a:xfrm>
            <a:off x="7589520" y="4489704"/>
            <a:ext cx="3931920" cy="502920"/>
          </a:xfrm>
          <a:prstGeom prst="rect">
            <a:avLst/>
          </a:prstGeom>
          <a:noFill/>
          <a:ln/>
        </p:spPr>
        <p:txBody>
          <a:bodyPr wrap="square" lIns="0" tIns="0" rIns="0" bIns="0" rtlCol="0" anchor="t"/>
          <a:lstStyle/>
          <a:p>
            <a:pPr indent="0" marL="0">
              <a:buNone/>
            </a:pPr>
            <a:r>
              <a:rPr lang="en-US" sz="1080" dirty="0">
                <a:solidFill>
                  <a:srgbClr val="CADCFC"/>
                </a:solidFill>
                <a:latin typeface="Calibri" pitchFamily="34" charset="0"/>
                <a:ea typeface="Calibri" pitchFamily="34" charset="-122"/>
                <a:cs typeface="Calibri" pitchFamily="34" charset="-120"/>
              </a:rPr>
              <a:t>Notify stakeholders, regulators, and the public transparently</a:t>
            </a:r>
            <a:endParaRPr lang="en-US" sz="1080" dirty="0"/>
          </a:p>
        </p:txBody>
      </p:sp>
      <p:sp>
        <p:nvSpPr>
          <p:cNvPr id="20" name="Shape 14"/>
          <p:cNvSpPr/>
          <p:nvPr/>
        </p:nvSpPr>
        <p:spPr>
          <a:xfrm>
            <a:off x="6720840" y="5202936"/>
            <a:ext cx="4892040" cy="1005840"/>
          </a:xfrm>
          <a:prstGeom prst="roundRect">
            <a:avLst>
              <a:gd name="adj" fmla="val 7273"/>
            </a:avLst>
          </a:prstGeom>
          <a:solidFill>
            <a:srgbClr val="16304F">
              <a:alpha val="85000"/>
            </a:srgbClr>
          </a:solidFill>
          <a:ln w="9525">
            <a:solidFill>
              <a:srgbClr val="2E86FF">
                <a:alpha val="50000"/>
              </a:srgbClr>
            </a:solidFill>
            <a:prstDash val="solid"/>
          </a:ln>
        </p:spPr>
      </p:sp>
      <p:pic>
        <p:nvPicPr>
          <p:cNvPr id="21" name="Image 4" descr="/home/claude/assets/badges/shield_fill.png">    </p:cNvPr>
          <p:cNvPicPr>
            <a:picLocks noChangeAspect="1"/>
          </p:cNvPicPr>
          <p:nvPr/>
        </p:nvPicPr>
        <p:blipFill>
          <a:blip r:embed="rId5"/>
          <a:stretch>
            <a:fillRect/>
          </a:stretch>
        </p:blipFill>
        <p:spPr>
          <a:xfrm>
            <a:off x="6903720" y="5449824"/>
            <a:ext cx="512064" cy="512064"/>
          </a:xfrm>
          <a:prstGeom prst="rect">
            <a:avLst/>
          </a:prstGeom>
        </p:spPr>
      </p:pic>
      <p:sp>
        <p:nvSpPr>
          <p:cNvPr id="22" name="Text 15"/>
          <p:cNvSpPr/>
          <p:nvPr/>
        </p:nvSpPr>
        <p:spPr>
          <a:xfrm>
            <a:off x="7589520" y="5294376"/>
            <a:ext cx="3931920" cy="365760"/>
          </a:xfrm>
          <a:prstGeom prst="rect">
            <a:avLst/>
          </a:prstGeom>
          <a:noFill/>
          <a:ln/>
        </p:spPr>
        <p:txBody>
          <a:bodyPr wrap="square" lIns="0" tIns="0" rIns="0" bIns="0" rtlCol="0" anchor="ctr"/>
          <a:lstStyle/>
          <a:p>
            <a:pPr indent="0" marL="0">
              <a:buNone/>
            </a:pPr>
            <a:r>
              <a:rPr lang="en-US" sz="1350" b="1" dirty="0">
                <a:solidFill>
                  <a:srgbClr val="3EC6FF"/>
                </a:solidFill>
                <a:latin typeface="Cambria" pitchFamily="34" charset="0"/>
                <a:ea typeface="Cambria" pitchFamily="34" charset="-122"/>
                <a:cs typeface="Cambria" pitchFamily="34" charset="-120"/>
              </a:rPr>
              <a:t>Harden Defenses</a:t>
            </a:r>
            <a:endParaRPr lang="en-US" sz="1350" dirty="0"/>
          </a:p>
        </p:txBody>
      </p:sp>
      <p:sp>
        <p:nvSpPr>
          <p:cNvPr id="23" name="Text 16"/>
          <p:cNvSpPr/>
          <p:nvPr/>
        </p:nvSpPr>
        <p:spPr>
          <a:xfrm>
            <a:off x="7589520" y="5660136"/>
            <a:ext cx="3931920" cy="502920"/>
          </a:xfrm>
          <a:prstGeom prst="rect">
            <a:avLst/>
          </a:prstGeom>
          <a:noFill/>
          <a:ln/>
        </p:spPr>
        <p:txBody>
          <a:bodyPr wrap="square" lIns="0" tIns="0" rIns="0" bIns="0" rtlCol="0" anchor="t"/>
          <a:lstStyle/>
          <a:p>
            <a:pPr indent="0" marL="0">
              <a:buNone/>
            </a:pPr>
            <a:r>
              <a:rPr lang="en-US" sz="1080" dirty="0">
                <a:solidFill>
                  <a:srgbClr val="CADCFC"/>
                </a:solidFill>
                <a:latin typeface="Calibri" pitchFamily="34" charset="0"/>
                <a:ea typeface="Calibri" pitchFamily="34" charset="-122"/>
                <a:cs typeface="Calibri" pitchFamily="34" charset="-120"/>
              </a:rPr>
              <a:t>Strengthen monitoring, patch policy, and incident response plans</a:t>
            </a:r>
            <a:endParaRPr lang="en-US" sz="1080" dirty="0"/>
          </a:p>
        </p:txBody>
      </p:sp>
      <p:sp>
        <p:nvSpPr>
          <p:cNvPr id="24" name="Text 17"/>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8FA9C9"/>
                </a:solidFill>
                <a:latin typeface="Calibri" pitchFamily="34" charset="0"/>
                <a:ea typeface="Calibri" pitchFamily="34" charset="-122"/>
                <a:cs typeface="Calibri" pitchFamily="34" charset="-120"/>
              </a:rPr>
              <a:t>WANNACRY RANSOMWARE ATTACK  |  CYBERSECURITY SEMINAR</a:t>
            </a:r>
            <a:endParaRPr lang="en-US" sz="900" dirty="0"/>
          </a:p>
        </p:txBody>
      </p:sp>
      <p:sp>
        <p:nvSpPr>
          <p:cNvPr id="25" name="Text 18"/>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8FA9C9"/>
                </a:solidFill>
                <a:latin typeface="Calibri" pitchFamily="34" charset="0"/>
                <a:ea typeface="Calibri" pitchFamily="34" charset="-122"/>
                <a:cs typeface="Calibri" pitchFamily="34" charset="-120"/>
              </a:rPr>
              <a:t>09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3EC6FF"/>
                </a:solidFill>
                <a:latin typeface="Calibri" pitchFamily="34" charset="0"/>
                <a:ea typeface="Calibri" pitchFamily="34" charset="-122"/>
                <a:cs typeface="Calibri" pitchFamily="34" charset="-120"/>
              </a:rPr>
              <a:t>ROOT CAUSE ANALYSIS</a:t>
            </a:r>
            <a:endParaRPr lang="en-US" sz="1250" dirty="0"/>
          </a:p>
        </p:txBody>
      </p:sp>
      <p:sp>
        <p:nvSpPr>
          <p:cNvPr id="3" name="Text 1"/>
          <p:cNvSpPr/>
          <p:nvPr/>
        </p:nvSpPr>
        <p:spPr>
          <a:xfrm>
            <a:off x="548640" y="685800"/>
            <a:ext cx="10607040" cy="82296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Root Causes &amp; Security Gaps</a:t>
            </a:r>
            <a:endParaRPr lang="en-US" sz="3200" dirty="0"/>
          </a:p>
        </p:txBody>
      </p:sp>
      <p:sp>
        <p:nvSpPr>
          <p:cNvPr id="4" name="Shape 2"/>
          <p:cNvSpPr/>
          <p:nvPr/>
        </p:nvSpPr>
        <p:spPr>
          <a:xfrm>
            <a:off x="548640" y="1783080"/>
            <a:ext cx="3337560" cy="1371600"/>
          </a:xfrm>
          <a:prstGeom prst="roundRect">
            <a:avLst>
              <a:gd name="adj" fmla="val 6000"/>
            </a:avLst>
          </a:prstGeom>
          <a:solidFill>
            <a:srgbClr val="112240">
              <a:alpha val="88000"/>
            </a:srgbClr>
          </a:solidFill>
          <a:ln w="9525">
            <a:solidFill>
              <a:srgbClr val="FF5470">
                <a:alpha val="45000"/>
              </a:srgbClr>
            </a:solidFill>
            <a:prstDash val="solid"/>
          </a:ln>
        </p:spPr>
      </p:sp>
      <p:pic>
        <p:nvPicPr>
          <p:cNvPr id="5" name="Image 0" descr="/home/claude/assets/badges/wrench_fill.png">    </p:cNvPr>
          <p:cNvPicPr>
            <a:picLocks noChangeAspect="1"/>
          </p:cNvPicPr>
          <p:nvPr/>
        </p:nvPicPr>
        <p:blipFill>
          <a:blip r:embed="rId1"/>
          <a:stretch>
            <a:fillRect/>
          </a:stretch>
        </p:blipFill>
        <p:spPr>
          <a:xfrm>
            <a:off x="731520" y="1965960"/>
            <a:ext cx="502920" cy="502920"/>
          </a:xfrm>
          <a:prstGeom prst="rect">
            <a:avLst/>
          </a:prstGeom>
        </p:spPr>
      </p:pic>
      <p:sp>
        <p:nvSpPr>
          <p:cNvPr id="6" name="Text 3"/>
          <p:cNvSpPr/>
          <p:nvPr/>
        </p:nvSpPr>
        <p:spPr>
          <a:xfrm>
            <a:off x="1371600" y="1920240"/>
            <a:ext cx="2331720" cy="41148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Unpatched Systems</a:t>
            </a:r>
            <a:endParaRPr lang="en-US" sz="1250" dirty="0"/>
          </a:p>
        </p:txBody>
      </p:sp>
      <p:sp>
        <p:nvSpPr>
          <p:cNvPr id="7" name="Text 4"/>
          <p:cNvSpPr/>
          <p:nvPr/>
        </p:nvSpPr>
        <p:spPr>
          <a:xfrm>
            <a:off x="731520" y="2441448"/>
            <a:ext cx="2971800" cy="594360"/>
          </a:xfrm>
          <a:prstGeom prst="rect">
            <a:avLst/>
          </a:prstGeom>
          <a:noFill/>
          <a:ln/>
        </p:spPr>
        <p:txBody>
          <a:bodyPr wrap="square" lIns="0" tIns="0" rIns="0" bIns="0" rtlCol="0" anchor="t"/>
          <a:lstStyle/>
          <a:p>
            <a:pPr indent="0" marL="0">
              <a:lnSpc>
                <a:spcPct val="110000"/>
              </a:lnSpc>
              <a:buNone/>
            </a:pPr>
            <a:r>
              <a:rPr lang="en-US" sz="1000" dirty="0">
                <a:solidFill>
                  <a:srgbClr val="CADCFC"/>
                </a:solidFill>
                <a:latin typeface="Calibri" pitchFamily="34" charset="0"/>
                <a:ea typeface="Calibri" pitchFamily="34" charset="-122"/>
                <a:cs typeface="Calibri" pitchFamily="34" charset="-120"/>
              </a:rPr>
              <a:t>Many organizations had not applied the MS17-010 patch a full month after release.</a:t>
            </a:r>
            <a:endParaRPr lang="en-US" sz="1000" dirty="0"/>
          </a:p>
        </p:txBody>
      </p:sp>
      <p:sp>
        <p:nvSpPr>
          <p:cNvPr id="8" name="Shape 5"/>
          <p:cNvSpPr/>
          <p:nvPr/>
        </p:nvSpPr>
        <p:spPr>
          <a:xfrm>
            <a:off x="4160520" y="1783080"/>
            <a:ext cx="3337560" cy="1371600"/>
          </a:xfrm>
          <a:prstGeom prst="roundRect">
            <a:avLst>
              <a:gd name="adj" fmla="val 6000"/>
            </a:avLst>
          </a:prstGeom>
          <a:solidFill>
            <a:srgbClr val="112240">
              <a:alpha val="88000"/>
            </a:srgbClr>
          </a:solidFill>
          <a:ln w="9525">
            <a:solidFill>
              <a:srgbClr val="FF5470">
                <a:alpha val="45000"/>
              </a:srgbClr>
            </a:solidFill>
            <a:prstDash val="solid"/>
          </a:ln>
        </p:spPr>
      </p:sp>
      <p:pic>
        <p:nvPicPr>
          <p:cNvPr id="9" name="Image 1" descr="/home/claude/assets/badges/windows_fill.png">    </p:cNvPr>
          <p:cNvPicPr>
            <a:picLocks noChangeAspect="1"/>
          </p:cNvPicPr>
          <p:nvPr/>
        </p:nvPicPr>
        <p:blipFill>
          <a:blip r:embed="rId2"/>
          <a:stretch>
            <a:fillRect/>
          </a:stretch>
        </p:blipFill>
        <p:spPr>
          <a:xfrm>
            <a:off x="4343400" y="1965960"/>
            <a:ext cx="502920" cy="502920"/>
          </a:xfrm>
          <a:prstGeom prst="rect">
            <a:avLst/>
          </a:prstGeom>
        </p:spPr>
      </p:pic>
      <p:sp>
        <p:nvSpPr>
          <p:cNvPr id="10" name="Text 6"/>
          <p:cNvSpPr/>
          <p:nvPr/>
        </p:nvSpPr>
        <p:spPr>
          <a:xfrm>
            <a:off x="4983480" y="1920240"/>
            <a:ext cx="2331720" cy="41148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Legacy Operating Systems</a:t>
            </a:r>
            <a:endParaRPr lang="en-US" sz="1250" dirty="0"/>
          </a:p>
        </p:txBody>
      </p:sp>
      <p:sp>
        <p:nvSpPr>
          <p:cNvPr id="11" name="Text 7"/>
          <p:cNvSpPr/>
          <p:nvPr/>
        </p:nvSpPr>
        <p:spPr>
          <a:xfrm>
            <a:off x="4343400" y="2441448"/>
            <a:ext cx="2971800" cy="594360"/>
          </a:xfrm>
          <a:prstGeom prst="rect">
            <a:avLst/>
          </a:prstGeom>
          <a:noFill/>
          <a:ln/>
        </p:spPr>
        <p:txBody>
          <a:bodyPr wrap="square" lIns="0" tIns="0" rIns="0" bIns="0" rtlCol="0" anchor="t"/>
          <a:lstStyle/>
          <a:p>
            <a:pPr indent="0" marL="0">
              <a:lnSpc>
                <a:spcPct val="110000"/>
              </a:lnSpc>
              <a:buNone/>
            </a:pPr>
            <a:r>
              <a:rPr lang="en-US" sz="1000" dirty="0">
                <a:solidFill>
                  <a:srgbClr val="CADCFC"/>
                </a:solidFill>
                <a:latin typeface="Calibri" pitchFamily="34" charset="0"/>
                <a:ea typeface="Calibri" pitchFamily="34" charset="-122"/>
                <a:cs typeface="Calibri" pitchFamily="34" charset="-120"/>
              </a:rPr>
              <a:t>Widespread use of unsupported Windows XP and Server 2003 with no vendor patches.</a:t>
            </a:r>
            <a:endParaRPr lang="en-US" sz="1000" dirty="0"/>
          </a:p>
        </p:txBody>
      </p:sp>
      <p:sp>
        <p:nvSpPr>
          <p:cNvPr id="12" name="Shape 8"/>
          <p:cNvSpPr/>
          <p:nvPr/>
        </p:nvSpPr>
        <p:spPr>
          <a:xfrm>
            <a:off x="7772400" y="1783080"/>
            <a:ext cx="3337560" cy="1371600"/>
          </a:xfrm>
          <a:prstGeom prst="roundRect">
            <a:avLst>
              <a:gd name="adj" fmla="val 6000"/>
            </a:avLst>
          </a:prstGeom>
          <a:solidFill>
            <a:srgbClr val="112240">
              <a:alpha val="88000"/>
            </a:srgbClr>
          </a:solidFill>
          <a:ln w="9525">
            <a:solidFill>
              <a:srgbClr val="FF5470">
                <a:alpha val="45000"/>
              </a:srgbClr>
            </a:solidFill>
            <a:prstDash val="solid"/>
          </a:ln>
        </p:spPr>
      </p:sp>
      <p:pic>
        <p:nvPicPr>
          <p:cNvPr id="13" name="Image 2" descr="/home/claude/assets/badges/network_fill.png">    </p:cNvPr>
          <p:cNvPicPr>
            <a:picLocks noChangeAspect="1"/>
          </p:cNvPicPr>
          <p:nvPr/>
        </p:nvPicPr>
        <p:blipFill>
          <a:blip r:embed="rId3"/>
          <a:stretch>
            <a:fillRect/>
          </a:stretch>
        </p:blipFill>
        <p:spPr>
          <a:xfrm>
            <a:off x="7955280" y="1965960"/>
            <a:ext cx="502920" cy="502920"/>
          </a:xfrm>
          <a:prstGeom prst="rect">
            <a:avLst/>
          </a:prstGeom>
        </p:spPr>
      </p:pic>
      <p:sp>
        <p:nvSpPr>
          <p:cNvPr id="14" name="Text 9"/>
          <p:cNvSpPr/>
          <p:nvPr/>
        </p:nvSpPr>
        <p:spPr>
          <a:xfrm>
            <a:off x="8595360" y="1920240"/>
            <a:ext cx="2331720" cy="41148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Exposed SMBv1 Service</a:t>
            </a:r>
            <a:endParaRPr lang="en-US" sz="1250" dirty="0"/>
          </a:p>
        </p:txBody>
      </p:sp>
      <p:sp>
        <p:nvSpPr>
          <p:cNvPr id="15" name="Text 10"/>
          <p:cNvSpPr/>
          <p:nvPr/>
        </p:nvSpPr>
        <p:spPr>
          <a:xfrm>
            <a:off x="7955280" y="2441448"/>
            <a:ext cx="2971800" cy="594360"/>
          </a:xfrm>
          <a:prstGeom prst="rect">
            <a:avLst/>
          </a:prstGeom>
          <a:noFill/>
          <a:ln/>
        </p:spPr>
        <p:txBody>
          <a:bodyPr wrap="square" lIns="0" tIns="0" rIns="0" bIns="0" rtlCol="0" anchor="t"/>
          <a:lstStyle/>
          <a:p>
            <a:pPr indent="0" marL="0">
              <a:lnSpc>
                <a:spcPct val="110000"/>
              </a:lnSpc>
              <a:buNone/>
            </a:pPr>
            <a:r>
              <a:rPr lang="en-US" sz="1000" dirty="0">
                <a:solidFill>
                  <a:srgbClr val="CADCFC"/>
                </a:solidFill>
                <a:latin typeface="Calibri" pitchFamily="34" charset="0"/>
                <a:ea typeface="Calibri" pitchFamily="34" charset="-122"/>
                <a:cs typeface="Calibri" pitchFamily="34" charset="-120"/>
              </a:rPr>
              <a:t>An outdated, vulnerable file-sharing protocol left enabled and internet-facing.</a:t>
            </a:r>
            <a:endParaRPr lang="en-US" sz="1000" dirty="0"/>
          </a:p>
        </p:txBody>
      </p:sp>
      <p:sp>
        <p:nvSpPr>
          <p:cNvPr id="16" name="Shape 11"/>
          <p:cNvSpPr/>
          <p:nvPr/>
        </p:nvSpPr>
        <p:spPr>
          <a:xfrm>
            <a:off x="548640" y="3410712"/>
            <a:ext cx="3337560" cy="1371600"/>
          </a:xfrm>
          <a:prstGeom prst="roundRect">
            <a:avLst>
              <a:gd name="adj" fmla="val 6000"/>
            </a:avLst>
          </a:prstGeom>
          <a:solidFill>
            <a:srgbClr val="112240">
              <a:alpha val="88000"/>
            </a:srgbClr>
          </a:solidFill>
          <a:ln w="9525">
            <a:solidFill>
              <a:srgbClr val="FF5470">
                <a:alpha val="45000"/>
              </a:srgbClr>
            </a:solidFill>
            <a:prstDash val="solid"/>
          </a:ln>
        </p:spPr>
      </p:sp>
      <p:pic>
        <p:nvPicPr>
          <p:cNvPr id="17" name="Image 3" descr="/home/claude/assets/badges/layerGroup_fill.png">    </p:cNvPr>
          <p:cNvPicPr>
            <a:picLocks noChangeAspect="1"/>
          </p:cNvPicPr>
          <p:nvPr/>
        </p:nvPicPr>
        <p:blipFill>
          <a:blip r:embed="rId4"/>
          <a:stretch>
            <a:fillRect/>
          </a:stretch>
        </p:blipFill>
        <p:spPr>
          <a:xfrm>
            <a:off x="731520" y="3593592"/>
            <a:ext cx="502920" cy="502920"/>
          </a:xfrm>
          <a:prstGeom prst="rect">
            <a:avLst/>
          </a:prstGeom>
        </p:spPr>
      </p:pic>
      <p:sp>
        <p:nvSpPr>
          <p:cNvPr id="18" name="Text 12"/>
          <p:cNvSpPr/>
          <p:nvPr/>
        </p:nvSpPr>
        <p:spPr>
          <a:xfrm>
            <a:off x="1371600" y="3547872"/>
            <a:ext cx="2331720" cy="41148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Flat Network Design</a:t>
            </a:r>
            <a:endParaRPr lang="en-US" sz="1250" dirty="0"/>
          </a:p>
        </p:txBody>
      </p:sp>
      <p:sp>
        <p:nvSpPr>
          <p:cNvPr id="19" name="Text 13"/>
          <p:cNvSpPr/>
          <p:nvPr/>
        </p:nvSpPr>
        <p:spPr>
          <a:xfrm>
            <a:off x="731520" y="4069080"/>
            <a:ext cx="2971800" cy="594360"/>
          </a:xfrm>
          <a:prstGeom prst="rect">
            <a:avLst/>
          </a:prstGeom>
          <a:noFill/>
          <a:ln/>
        </p:spPr>
        <p:txBody>
          <a:bodyPr wrap="square" lIns="0" tIns="0" rIns="0" bIns="0" rtlCol="0" anchor="t"/>
          <a:lstStyle/>
          <a:p>
            <a:pPr indent="0" marL="0">
              <a:lnSpc>
                <a:spcPct val="110000"/>
              </a:lnSpc>
              <a:buNone/>
            </a:pPr>
            <a:r>
              <a:rPr lang="en-US" sz="1000" dirty="0">
                <a:solidFill>
                  <a:srgbClr val="CADCFC"/>
                </a:solidFill>
                <a:latin typeface="Calibri" pitchFamily="34" charset="0"/>
                <a:ea typeface="Calibri" pitchFamily="34" charset="-122"/>
                <a:cs typeface="Calibri" pitchFamily="34" charset="-120"/>
              </a:rPr>
              <a:t>Lack of network segmentation allowed the worm to spread laterally with ease.</a:t>
            </a:r>
            <a:endParaRPr lang="en-US" sz="1000" dirty="0"/>
          </a:p>
        </p:txBody>
      </p:sp>
      <p:sp>
        <p:nvSpPr>
          <p:cNvPr id="20" name="Shape 14"/>
          <p:cNvSpPr/>
          <p:nvPr/>
        </p:nvSpPr>
        <p:spPr>
          <a:xfrm>
            <a:off x="4160520" y="3410712"/>
            <a:ext cx="3337560" cy="1371600"/>
          </a:xfrm>
          <a:prstGeom prst="roundRect">
            <a:avLst>
              <a:gd name="adj" fmla="val 6000"/>
            </a:avLst>
          </a:prstGeom>
          <a:solidFill>
            <a:srgbClr val="112240">
              <a:alpha val="88000"/>
            </a:srgbClr>
          </a:solidFill>
          <a:ln w="9525">
            <a:solidFill>
              <a:srgbClr val="FF5470">
                <a:alpha val="45000"/>
              </a:srgbClr>
            </a:solidFill>
            <a:prstDash val="solid"/>
          </a:ln>
        </p:spPr>
      </p:sp>
      <p:pic>
        <p:nvPicPr>
          <p:cNvPr id="21" name="Image 4" descr="/home/claude/assets/badges/eye_fill.png">    </p:cNvPr>
          <p:cNvPicPr>
            <a:picLocks noChangeAspect="1"/>
          </p:cNvPicPr>
          <p:nvPr/>
        </p:nvPicPr>
        <p:blipFill>
          <a:blip r:embed="rId5"/>
          <a:stretch>
            <a:fillRect/>
          </a:stretch>
        </p:blipFill>
        <p:spPr>
          <a:xfrm>
            <a:off x="4343400" y="3593592"/>
            <a:ext cx="502920" cy="502920"/>
          </a:xfrm>
          <a:prstGeom prst="rect">
            <a:avLst/>
          </a:prstGeom>
        </p:spPr>
      </p:pic>
      <p:sp>
        <p:nvSpPr>
          <p:cNvPr id="22" name="Text 15"/>
          <p:cNvSpPr/>
          <p:nvPr/>
        </p:nvSpPr>
        <p:spPr>
          <a:xfrm>
            <a:off x="4983480" y="3547872"/>
            <a:ext cx="2331720" cy="41148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Weak Monitoring</a:t>
            </a:r>
            <a:endParaRPr lang="en-US" sz="1250" dirty="0"/>
          </a:p>
        </p:txBody>
      </p:sp>
      <p:sp>
        <p:nvSpPr>
          <p:cNvPr id="23" name="Text 16"/>
          <p:cNvSpPr/>
          <p:nvPr/>
        </p:nvSpPr>
        <p:spPr>
          <a:xfrm>
            <a:off x="4343400" y="4069080"/>
            <a:ext cx="2971800" cy="594360"/>
          </a:xfrm>
          <a:prstGeom prst="rect">
            <a:avLst/>
          </a:prstGeom>
          <a:noFill/>
          <a:ln/>
        </p:spPr>
        <p:txBody>
          <a:bodyPr wrap="square" lIns="0" tIns="0" rIns="0" bIns="0" rtlCol="0" anchor="t"/>
          <a:lstStyle/>
          <a:p>
            <a:pPr indent="0" marL="0">
              <a:lnSpc>
                <a:spcPct val="110000"/>
              </a:lnSpc>
              <a:buNone/>
            </a:pPr>
            <a:r>
              <a:rPr lang="en-US" sz="1000" dirty="0">
                <a:solidFill>
                  <a:srgbClr val="CADCFC"/>
                </a:solidFill>
                <a:latin typeface="Calibri" pitchFamily="34" charset="0"/>
                <a:ea typeface="Calibri" pitchFamily="34" charset="-122"/>
                <a:cs typeface="Calibri" pitchFamily="34" charset="-120"/>
              </a:rPr>
              <a:t>Limited visibility into anomalous SMB traffic delayed detection and response.</a:t>
            </a:r>
            <a:endParaRPr lang="en-US" sz="1000" dirty="0"/>
          </a:p>
        </p:txBody>
      </p:sp>
      <p:sp>
        <p:nvSpPr>
          <p:cNvPr id="24" name="Shape 17"/>
          <p:cNvSpPr/>
          <p:nvPr/>
        </p:nvSpPr>
        <p:spPr>
          <a:xfrm>
            <a:off x="7772400" y="3410712"/>
            <a:ext cx="3337560" cy="1371600"/>
          </a:xfrm>
          <a:prstGeom prst="roundRect">
            <a:avLst>
              <a:gd name="adj" fmla="val 6000"/>
            </a:avLst>
          </a:prstGeom>
          <a:solidFill>
            <a:srgbClr val="112240">
              <a:alpha val="88000"/>
            </a:srgbClr>
          </a:solidFill>
          <a:ln w="9525">
            <a:solidFill>
              <a:srgbClr val="FF5470">
                <a:alpha val="45000"/>
              </a:srgbClr>
            </a:solidFill>
            <a:prstDash val="solid"/>
          </a:ln>
        </p:spPr>
      </p:sp>
      <p:pic>
        <p:nvPicPr>
          <p:cNvPr id="25" name="Image 5" descr="/home/claude/assets/badges/clipboard_fill.png">    </p:cNvPr>
          <p:cNvPicPr>
            <a:picLocks noChangeAspect="1"/>
          </p:cNvPicPr>
          <p:nvPr/>
        </p:nvPicPr>
        <p:blipFill>
          <a:blip r:embed="rId6"/>
          <a:stretch>
            <a:fillRect/>
          </a:stretch>
        </p:blipFill>
        <p:spPr>
          <a:xfrm>
            <a:off x="7955280" y="3593592"/>
            <a:ext cx="502920" cy="502920"/>
          </a:xfrm>
          <a:prstGeom prst="rect">
            <a:avLst/>
          </a:prstGeom>
        </p:spPr>
      </p:pic>
      <p:sp>
        <p:nvSpPr>
          <p:cNvPr id="26" name="Text 18"/>
          <p:cNvSpPr/>
          <p:nvPr/>
        </p:nvSpPr>
        <p:spPr>
          <a:xfrm>
            <a:off x="8595360" y="3547872"/>
            <a:ext cx="2331720" cy="41148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No Tested Backup Plan</a:t>
            </a:r>
            <a:endParaRPr lang="en-US" sz="1250" dirty="0"/>
          </a:p>
        </p:txBody>
      </p:sp>
      <p:sp>
        <p:nvSpPr>
          <p:cNvPr id="27" name="Text 19"/>
          <p:cNvSpPr/>
          <p:nvPr/>
        </p:nvSpPr>
        <p:spPr>
          <a:xfrm>
            <a:off x="7955280" y="4069080"/>
            <a:ext cx="2971800" cy="594360"/>
          </a:xfrm>
          <a:prstGeom prst="rect">
            <a:avLst/>
          </a:prstGeom>
          <a:noFill/>
          <a:ln/>
        </p:spPr>
        <p:txBody>
          <a:bodyPr wrap="square" lIns="0" tIns="0" rIns="0" bIns="0" rtlCol="0" anchor="t"/>
          <a:lstStyle/>
          <a:p>
            <a:pPr indent="0" marL="0">
              <a:lnSpc>
                <a:spcPct val="110000"/>
              </a:lnSpc>
              <a:buNone/>
            </a:pPr>
            <a:r>
              <a:rPr lang="en-US" sz="1000" dirty="0">
                <a:solidFill>
                  <a:srgbClr val="CADCFC"/>
                </a:solidFill>
                <a:latin typeface="Calibri" pitchFamily="34" charset="0"/>
                <a:ea typeface="Calibri" pitchFamily="34" charset="-122"/>
                <a:cs typeface="Calibri" pitchFamily="34" charset="-120"/>
              </a:rPr>
              <a:t>Many victims lacked verified, offline backups for rapid, ransom-free recovery.</a:t>
            </a:r>
            <a:endParaRPr lang="en-US" sz="1000" dirty="0"/>
          </a:p>
        </p:txBody>
      </p:sp>
      <p:sp>
        <p:nvSpPr>
          <p:cNvPr id="28" name="Text 20"/>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8FA9C9"/>
                </a:solidFill>
                <a:latin typeface="Calibri" pitchFamily="34" charset="0"/>
                <a:ea typeface="Calibri" pitchFamily="34" charset="-122"/>
                <a:cs typeface="Calibri" pitchFamily="34" charset="-120"/>
              </a:rPr>
              <a:t>WANNACRY RANSOMWARE ATTACK  |  CYBERSECURITY SEMINAR</a:t>
            </a:r>
            <a:endParaRPr lang="en-US" sz="900" dirty="0"/>
          </a:p>
        </p:txBody>
      </p:sp>
      <p:sp>
        <p:nvSpPr>
          <p:cNvPr id="29" name="Text 21"/>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8FA9C9"/>
                </a:solidFill>
                <a:latin typeface="Calibri" pitchFamily="34" charset="0"/>
                <a:ea typeface="Calibri" pitchFamily="34" charset="-122"/>
                <a:cs typeface="Calibri"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3EC6FF"/>
                </a:solidFill>
                <a:latin typeface="Calibri" pitchFamily="34" charset="0"/>
                <a:ea typeface="Calibri" pitchFamily="34" charset="-122"/>
                <a:cs typeface="Calibri" pitchFamily="34" charset="-120"/>
              </a:rPr>
              <a:t>KEY INSIGHTS</a:t>
            </a:r>
            <a:endParaRPr lang="en-US" sz="1250" dirty="0"/>
          </a:p>
        </p:txBody>
      </p:sp>
      <p:sp>
        <p:nvSpPr>
          <p:cNvPr id="3" name="Text 1"/>
          <p:cNvSpPr/>
          <p:nvPr/>
        </p:nvSpPr>
        <p:spPr>
          <a:xfrm>
            <a:off x="548640" y="685800"/>
            <a:ext cx="10607040" cy="82296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Lessons Learned</a:t>
            </a:r>
            <a:endParaRPr lang="en-US" sz="3200" dirty="0"/>
          </a:p>
        </p:txBody>
      </p:sp>
      <p:sp>
        <p:nvSpPr>
          <p:cNvPr id="4" name="Shape 2"/>
          <p:cNvSpPr/>
          <p:nvPr/>
        </p:nvSpPr>
        <p:spPr>
          <a:xfrm>
            <a:off x="548640" y="1828800"/>
            <a:ext cx="10607040" cy="841248"/>
          </a:xfrm>
          <a:prstGeom prst="roundRect">
            <a:avLst>
              <a:gd name="adj" fmla="val 8696"/>
            </a:avLst>
          </a:prstGeom>
          <a:solidFill>
            <a:srgbClr val="112240">
              <a:alpha val="88000"/>
            </a:srgbClr>
          </a:solidFill>
          <a:ln w="7620">
            <a:solidFill>
              <a:srgbClr val="2E86FF">
                <a:alpha val="45000"/>
              </a:srgbClr>
            </a:solidFill>
            <a:prstDash val="solid"/>
          </a:ln>
        </p:spPr>
      </p:sp>
      <p:pic>
        <p:nvPicPr>
          <p:cNvPr id="5" name="Image 0" descr="/home/claude/assets/badges/wrench_fill.png">    </p:cNvPr>
          <p:cNvPicPr>
            <a:picLocks noChangeAspect="1"/>
          </p:cNvPicPr>
          <p:nvPr/>
        </p:nvPicPr>
        <p:blipFill>
          <a:blip r:embed="rId1"/>
          <a:stretch>
            <a:fillRect/>
          </a:stretch>
        </p:blipFill>
        <p:spPr>
          <a:xfrm>
            <a:off x="749808" y="1975104"/>
            <a:ext cx="548640" cy="548640"/>
          </a:xfrm>
          <a:prstGeom prst="rect">
            <a:avLst/>
          </a:prstGeom>
        </p:spPr>
      </p:pic>
      <p:sp>
        <p:nvSpPr>
          <p:cNvPr id="6" name="Text 3"/>
          <p:cNvSpPr/>
          <p:nvPr/>
        </p:nvSpPr>
        <p:spPr>
          <a:xfrm>
            <a:off x="1508760" y="1901952"/>
            <a:ext cx="2926080" cy="694944"/>
          </a:xfrm>
          <a:prstGeom prst="rect">
            <a:avLst/>
          </a:prstGeom>
          <a:noFill/>
          <a:ln/>
        </p:spPr>
        <p:txBody>
          <a:bodyPr wrap="square" lIns="0" tIns="0" rIns="0" bIns="0" rtlCol="0" anchor="ctr"/>
          <a:lstStyle/>
          <a:p>
            <a:pPr indent="0" marL="0">
              <a:buNone/>
            </a:pPr>
            <a:r>
              <a:rPr lang="en-US" sz="1500" b="1" dirty="0">
                <a:solidFill>
                  <a:srgbClr val="3EC6FF"/>
                </a:solidFill>
                <a:latin typeface="Cambria" pitchFamily="34" charset="0"/>
                <a:ea typeface="Cambria" pitchFamily="34" charset="-122"/>
                <a:cs typeface="Cambria" pitchFamily="34" charset="-120"/>
              </a:rPr>
              <a:t>Patch Promptly</a:t>
            </a:r>
            <a:endParaRPr lang="en-US" sz="1500" dirty="0"/>
          </a:p>
        </p:txBody>
      </p:sp>
      <p:sp>
        <p:nvSpPr>
          <p:cNvPr id="7" name="Text 4"/>
          <p:cNvSpPr/>
          <p:nvPr/>
        </p:nvSpPr>
        <p:spPr>
          <a:xfrm>
            <a:off x="4526280" y="1901952"/>
            <a:ext cx="6446520" cy="694944"/>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Timely patch management closes known vulnerabilities before attackers exploit them.</a:t>
            </a:r>
            <a:endParaRPr lang="en-US" sz="1250" dirty="0"/>
          </a:p>
        </p:txBody>
      </p:sp>
      <p:sp>
        <p:nvSpPr>
          <p:cNvPr id="8" name="Shape 5"/>
          <p:cNvSpPr/>
          <p:nvPr/>
        </p:nvSpPr>
        <p:spPr>
          <a:xfrm>
            <a:off x="548640" y="2779776"/>
            <a:ext cx="10607040" cy="841248"/>
          </a:xfrm>
          <a:prstGeom prst="roundRect">
            <a:avLst>
              <a:gd name="adj" fmla="val 8696"/>
            </a:avLst>
          </a:prstGeom>
          <a:solidFill>
            <a:srgbClr val="16304F">
              <a:alpha val="88000"/>
            </a:srgbClr>
          </a:solidFill>
          <a:ln w="7620">
            <a:solidFill>
              <a:srgbClr val="2E86FF">
                <a:alpha val="45000"/>
              </a:srgbClr>
            </a:solidFill>
            <a:prstDash val="solid"/>
          </a:ln>
        </p:spPr>
      </p:sp>
      <p:pic>
        <p:nvPicPr>
          <p:cNvPr id="9" name="Image 1" descr="/home/claude/assets/badges/layerGroup_fill.png">    </p:cNvPr>
          <p:cNvPicPr>
            <a:picLocks noChangeAspect="1"/>
          </p:cNvPicPr>
          <p:nvPr/>
        </p:nvPicPr>
        <p:blipFill>
          <a:blip r:embed="rId2"/>
          <a:stretch>
            <a:fillRect/>
          </a:stretch>
        </p:blipFill>
        <p:spPr>
          <a:xfrm>
            <a:off x="749808" y="2926080"/>
            <a:ext cx="548640" cy="548640"/>
          </a:xfrm>
          <a:prstGeom prst="rect">
            <a:avLst/>
          </a:prstGeom>
        </p:spPr>
      </p:pic>
      <p:sp>
        <p:nvSpPr>
          <p:cNvPr id="10" name="Text 6"/>
          <p:cNvSpPr/>
          <p:nvPr/>
        </p:nvSpPr>
        <p:spPr>
          <a:xfrm>
            <a:off x="1508760" y="2852928"/>
            <a:ext cx="2926080" cy="694944"/>
          </a:xfrm>
          <a:prstGeom prst="rect">
            <a:avLst/>
          </a:prstGeom>
          <a:noFill/>
          <a:ln/>
        </p:spPr>
        <p:txBody>
          <a:bodyPr wrap="square" lIns="0" tIns="0" rIns="0" bIns="0" rtlCol="0" anchor="ctr"/>
          <a:lstStyle/>
          <a:p>
            <a:pPr indent="0" marL="0">
              <a:buNone/>
            </a:pPr>
            <a:r>
              <a:rPr lang="en-US" sz="1500" b="1" dirty="0">
                <a:solidFill>
                  <a:srgbClr val="3EC6FF"/>
                </a:solidFill>
                <a:latin typeface="Cambria" pitchFamily="34" charset="0"/>
                <a:ea typeface="Cambria" pitchFamily="34" charset="-122"/>
                <a:cs typeface="Cambria" pitchFamily="34" charset="-120"/>
              </a:rPr>
              <a:t>Segment Networks</a:t>
            </a:r>
            <a:endParaRPr lang="en-US" sz="1500" dirty="0"/>
          </a:p>
        </p:txBody>
      </p:sp>
      <p:sp>
        <p:nvSpPr>
          <p:cNvPr id="11" name="Text 7"/>
          <p:cNvSpPr/>
          <p:nvPr/>
        </p:nvSpPr>
        <p:spPr>
          <a:xfrm>
            <a:off x="4526280" y="2852928"/>
            <a:ext cx="6446520" cy="694944"/>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Isolating critical systems limits how far malware can spread laterally.</a:t>
            </a:r>
            <a:endParaRPr lang="en-US" sz="1250" dirty="0"/>
          </a:p>
        </p:txBody>
      </p:sp>
      <p:sp>
        <p:nvSpPr>
          <p:cNvPr id="12" name="Shape 8"/>
          <p:cNvSpPr/>
          <p:nvPr/>
        </p:nvSpPr>
        <p:spPr>
          <a:xfrm>
            <a:off x="548640" y="3730752"/>
            <a:ext cx="10607040" cy="841248"/>
          </a:xfrm>
          <a:prstGeom prst="roundRect">
            <a:avLst>
              <a:gd name="adj" fmla="val 8696"/>
            </a:avLst>
          </a:prstGeom>
          <a:solidFill>
            <a:srgbClr val="112240">
              <a:alpha val="88000"/>
            </a:srgbClr>
          </a:solidFill>
          <a:ln w="7620">
            <a:solidFill>
              <a:srgbClr val="2E86FF">
                <a:alpha val="45000"/>
              </a:srgbClr>
            </a:solidFill>
            <a:prstDash val="solid"/>
          </a:ln>
        </p:spPr>
      </p:sp>
      <p:pic>
        <p:nvPicPr>
          <p:cNvPr id="13" name="Image 2" descr="/home/claude/assets/badges/clipboard_fill.png">    </p:cNvPr>
          <p:cNvPicPr>
            <a:picLocks noChangeAspect="1"/>
          </p:cNvPicPr>
          <p:nvPr/>
        </p:nvPicPr>
        <p:blipFill>
          <a:blip r:embed="rId3"/>
          <a:stretch>
            <a:fillRect/>
          </a:stretch>
        </p:blipFill>
        <p:spPr>
          <a:xfrm>
            <a:off x="749808" y="3877056"/>
            <a:ext cx="548640" cy="548640"/>
          </a:xfrm>
          <a:prstGeom prst="rect">
            <a:avLst/>
          </a:prstGeom>
        </p:spPr>
      </p:pic>
      <p:sp>
        <p:nvSpPr>
          <p:cNvPr id="14" name="Text 9"/>
          <p:cNvSpPr/>
          <p:nvPr/>
        </p:nvSpPr>
        <p:spPr>
          <a:xfrm>
            <a:off x="1508760" y="3803904"/>
            <a:ext cx="2926080" cy="694944"/>
          </a:xfrm>
          <a:prstGeom prst="rect">
            <a:avLst/>
          </a:prstGeom>
          <a:noFill/>
          <a:ln/>
        </p:spPr>
        <p:txBody>
          <a:bodyPr wrap="square" lIns="0" tIns="0" rIns="0" bIns="0" rtlCol="0" anchor="ctr"/>
          <a:lstStyle/>
          <a:p>
            <a:pPr indent="0" marL="0">
              <a:buNone/>
            </a:pPr>
            <a:r>
              <a:rPr lang="en-US" sz="1500" b="1" dirty="0">
                <a:solidFill>
                  <a:srgbClr val="3EC6FF"/>
                </a:solidFill>
                <a:latin typeface="Cambria" pitchFamily="34" charset="0"/>
                <a:ea typeface="Cambria" pitchFamily="34" charset="-122"/>
                <a:cs typeface="Cambria" pitchFamily="34" charset="-120"/>
              </a:rPr>
              <a:t>Back Up Offline</a:t>
            </a:r>
            <a:endParaRPr lang="en-US" sz="1500" dirty="0"/>
          </a:p>
        </p:txBody>
      </p:sp>
      <p:sp>
        <p:nvSpPr>
          <p:cNvPr id="15" name="Text 10"/>
          <p:cNvSpPr/>
          <p:nvPr/>
        </p:nvSpPr>
        <p:spPr>
          <a:xfrm>
            <a:off x="4526280" y="3803904"/>
            <a:ext cx="6446520" cy="694944"/>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Regular, tested, offline backups neutralize the leverage ransomware relies on.</a:t>
            </a:r>
            <a:endParaRPr lang="en-US" sz="1250" dirty="0"/>
          </a:p>
        </p:txBody>
      </p:sp>
      <p:sp>
        <p:nvSpPr>
          <p:cNvPr id="16" name="Shape 11"/>
          <p:cNvSpPr/>
          <p:nvPr/>
        </p:nvSpPr>
        <p:spPr>
          <a:xfrm>
            <a:off x="548640" y="4681728"/>
            <a:ext cx="10607040" cy="841248"/>
          </a:xfrm>
          <a:prstGeom prst="roundRect">
            <a:avLst>
              <a:gd name="adj" fmla="val 8696"/>
            </a:avLst>
          </a:prstGeom>
          <a:solidFill>
            <a:srgbClr val="16304F">
              <a:alpha val="88000"/>
            </a:srgbClr>
          </a:solidFill>
          <a:ln w="7620">
            <a:solidFill>
              <a:srgbClr val="2E86FF">
                <a:alpha val="45000"/>
              </a:srgbClr>
            </a:solidFill>
            <a:prstDash val="solid"/>
          </a:ln>
        </p:spPr>
      </p:sp>
      <p:pic>
        <p:nvPicPr>
          <p:cNvPr id="17" name="Image 3" descr="/home/claude/assets/badges/users_fill.png">    </p:cNvPr>
          <p:cNvPicPr>
            <a:picLocks noChangeAspect="1"/>
          </p:cNvPicPr>
          <p:nvPr/>
        </p:nvPicPr>
        <p:blipFill>
          <a:blip r:embed="rId4"/>
          <a:stretch>
            <a:fillRect/>
          </a:stretch>
        </p:blipFill>
        <p:spPr>
          <a:xfrm>
            <a:off x="749808" y="4828032"/>
            <a:ext cx="548640" cy="548640"/>
          </a:xfrm>
          <a:prstGeom prst="rect">
            <a:avLst/>
          </a:prstGeom>
        </p:spPr>
      </p:pic>
      <p:sp>
        <p:nvSpPr>
          <p:cNvPr id="18" name="Text 12"/>
          <p:cNvSpPr/>
          <p:nvPr/>
        </p:nvSpPr>
        <p:spPr>
          <a:xfrm>
            <a:off x="1508760" y="4754880"/>
            <a:ext cx="2926080" cy="694944"/>
          </a:xfrm>
          <a:prstGeom prst="rect">
            <a:avLst/>
          </a:prstGeom>
          <a:noFill/>
          <a:ln/>
        </p:spPr>
        <p:txBody>
          <a:bodyPr wrap="square" lIns="0" tIns="0" rIns="0" bIns="0" rtlCol="0" anchor="ctr"/>
          <a:lstStyle/>
          <a:p>
            <a:pPr indent="0" marL="0">
              <a:buNone/>
            </a:pPr>
            <a:r>
              <a:rPr lang="en-US" sz="1500" b="1" dirty="0">
                <a:solidFill>
                  <a:srgbClr val="3EC6FF"/>
                </a:solidFill>
                <a:latin typeface="Cambria" pitchFamily="34" charset="0"/>
                <a:ea typeface="Cambria" pitchFamily="34" charset="-122"/>
                <a:cs typeface="Cambria" pitchFamily="34" charset="-120"/>
              </a:rPr>
              <a:t>Train People</a:t>
            </a:r>
            <a:endParaRPr lang="en-US" sz="1500" dirty="0"/>
          </a:p>
        </p:txBody>
      </p:sp>
      <p:sp>
        <p:nvSpPr>
          <p:cNvPr id="19" name="Text 13"/>
          <p:cNvSpPr/>
          <p:nvPr/>
        </p:nvSpPr>
        <p:spPr>
          <a:xfrm>
            <a:off x="4526280" y="4754880"/>
            <a:ext cx="6446520" cy="694944"/>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Human awareness reduces the success rate of phishing and social engineering.</a:t>
            </a:r>
            <a:endParaRPr lang="en-US" sz="1250" dirty="0"/>
          </a:p>
        </p:txBody>
      </p:sp>
      <p:sp>
        <p:nvSpPr>
          <p:cNvPr id="20" name="Shape 14"/>
          <p:cNvSpPr/>
          <p:nvPr/>
        </p:nvSpPr>
        <p:spPr>
          <a:xfrm>
            <a:off x="548640" y="5632704"/>
            <a:ext cx="10607040" cy="841248"/>
          </a:xfrm>
          <a:prstGeom prst="roundRect">
            <a:avLst>
              <a:gd name="adj" fmla="val 8696"/>
            </a:avLst>
          </a:prstGeom>
          <a:solidFill>
            <a:srgbClr val="112240">
              <a:alpha val="88000"/>
            </a:srgbClr>
          </a:solidFill>
          <a:ln w="7620">
            <a:solidFill>
              <a:srgbClr val="2E86FF">
                <a:alpha val="45000"/>
              </a:srgbClr>
            </a:solidFill>
            <a:prstDash val="solid"/>
          </a:ln>
        </p:spPr>
      </p:sp>
      <p:pic>
        <p:nvPicPr>
          <p:cNvPr id="21" name="Image 4" descr="/home/claude/assets/badges/eye_fill.png">    </p:cNvPr>
          <p:cNvPicPr>
            <a:picLocks noChangeAspect="1"/>
          </p:cNvPicPr>
          <p:nvPr/>
        </p:nvPicPr>
        <p:blipFill>
          <a:blip r:embed="rId5"/>
          <a:stretch>
            <a:fillRect/>
          </a:stretch>
        </p:blipFill>
        <p:spPr>
          <a:xfrm>
            <a:off x="749808" y="5779008"/>
            <a:ext cx="548640" cy="548640"/>
          </a:xfrm>
          <a:prstGeom prst="rect">
            <a:avLst/>
          </a:prstGeom>
        </p:spPr>
      </p:pic>
      <p:sp>
        <p:nvSpPr>
          <p:cNvPr id="22" name="Text 15"/>
          <p:cNvSpPr/>
          <p:nvPr/>
        </p:nvSpPr>
        <p:spPr>
          <a:xfrm>
            <a:off x="1508760" y="5705856"/>
            <a:ext cx="2926080" cy="694944"/>
          </a:xfrm>
          <a:prstGeom prst="rect">
            <a:avLst/>
          </a:prstGeom>
          <a:noFill/>
          <a:ln/>
        </p:spPr>
        <p:txBody>
          <a:bodyPr wrap="square" lIns="0" tIns="0" rIns="0" bIns="0" rtlCol="0" anchor="ctr"/>
          <a:lstStyle/>
          <a:p>
            <a:pPr indent="0" marL="0">
              <a:buNone/>
            </a:pPr>
            <a:r>
              <a:rPr lang="en-US" sz="1500" b="1" dirty="0">
                <a:solidFill>
                  <a:srgbClr val="3EC6FF"/>
                </a:solidFill>
                <a:latin typeface="Cambria" pitchFamily="34" charset="0"/>
                <a:ea typeface="Cambria" pitchFamily="34" charset="-122"/>
                <a:cs typeface="Cambria" pitchFamily="34" charset="-120"/>
              </a:rPr>
              <a:t>Monitor Continuously</a:t>
            </a:r>
            <a:endParaRPr lang="en-US" sz="1500" dirty="0"/>
          </a:p>
        </p:txBody>
      </p:sp>
      <p:sp>
        <p:nvSpPr>
          <p:cNvPr id="23" name="Text 16"/>
          <p:cNvSpPr/>
          <p:nvPr/>
        </p:nvSpPr>
        <p:spPr>
          <a:xfrm>
            <a:off x="4526280" y="5705856"/>
            <a:ext cx="6446520" cy="694944"/>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Real-time detection shortens the window between compromise and response.</a:t>
            </a:r>
            <a:endParaRPr lang="en-US" sz="1250" dirty="0"/>
          </a:p>
        </p:txBody>
      </p:sp>
      <p:sp>
        <p:nvSpPr>
          <p:cNvPr id="24" name="Text 17"/>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8FA9C9"/>
                </a:solidFill>
                <a:latin typeface="Calibri" pitchFamily="34" charset="0"/>
                <a:ea typeface="Calibri" pitchFamily="34" charset="-122"/>
                <a:cs typeface="Calibri" pitchFamily="34" charset="-120"/>
              </a:rPr>
              <a:t>WANNACRY RANSOMWARE ATTACK  |  CYBERSECURITY SEMINAR</a:t>
            </a:r>
            <a:endParaRPr lang="en-US" sz="900" dirty="0"/>
          </a:p>
        </p:txBody>
      </p:sp>
      <p:sp>
        <p:nvSpPr>
          <p:cNvPr id="25" name="Text 18"/>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8FA9C9"/>
                </a:solidFill>
                <a:latin typeface="Calibri" pitchFamily="34" charset="0"/>
                <a:ea typeface="Calibri" pitchFamily="34" charset="-122"/>
                <a:cs typeface="Calibri"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3EC6FF"/>
                </a:solidFill>
                <a:latin typeface="Calibri" pitchFamily="34" charset="0"/>
                <a:ea typeface="Calibri" pitchFamily="34" charset="-122"/>
                <a:cs typeface="Calibri" pitchFamily="34" charset="-120"/>
              </a:rPr>
              <a:t>PREVENTION FRAMEWORK</a:t>
            </a:r>
            <a:endParaRPr lang="en-US" sz="1250" dirty="0"/>
          </a:p>
        </p:txBody>
      </p:sp>
      <p:sp>
        <p:nvSpPr>
          <p:cNvPr id="3" name="Text 1"/>
          <p:cNvSpPr/>
          <p:nvPr/>
        </p:nvSpPr>
        <p:spPr>
          <a:xfrm>
            <a:off x="548640" y="685800"/>
            <a:ext cx="10607040" cy="82296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Best Cybersecurity Practices for Prevention</a:t>
            </a:r>
            <a:endParaRPr lang="en-US" sz="3200" dirty="0"/>
          </a:p>
        </p:txBody>
      </p:sp>
      <p:sp>
        <p:nvSpPr>
          <p:cNvPr id="4" name="Shape 2"/>
          <p:cNvSpPr/>
          <p:nvPr/>
        </p:nvSpPr>
        <p:spPr>
          <a:xfrm>
            <a:off x="548640" y="1783080"/>
            <a:ext cx="3337560" cy="1371600"/>
          </a:xfrm>
          <a:prstGeom prst="roundRect">
            <a:avLst>
              <a:gd name="adj" fmla="val 6000"/>
            </a:avLst>
          </a:prstGeom>
          <a:solidFill>
            <a:srgbClr val="112240">
              <a:alpha val="88000"/>
            </a:srgbClr>
          </a:solidFill>
          <a:ln w="9525">
            <a:solidFill>
              <a:srgbClr val="2E86FF">
                <a:alpha val="50000"/>
              </a:srgbClr>
            </a:solidFill>
            <a:prstDash val="solid"/>
          </a:ln>
        </p:spPr>
      </p:sp>
      <p:pic>
        <p:nvPicPr>
          <p:cNvPr id="5" name="Image 0" descr="/home/claude/assets/badges/wrench_fill.png">    </p:cNvPr>
          <p:cNvPicPr>
            <a:picLocks noChangeAspect="1"/>
          </p:cNvPicPr>
          <p:nvPr/>
        </p:nvPicPr>
        <p:blipFill>
          <a:blip r:embed="rId1"/>
          <a:stretch>
            <a:fillRect/>
          </a:stretch>
        </p:blipFill>
        <p:spPr>
          <a:xfrm>
            <a:off x="731520" y="1965960"/>
            <a:ext cx="502920" cy="502920"/>
          </a:xfrm>
          <a:prstGeom prst="rect">
            <a:avLst/>
          </a:prstGeom>
        </p:spPr>
      </p:pic>
      <p:sp>
        <p:nvSpPr>
          <p:cNvPr id="6" name="Text 3"/>
          <p:cNvSpPr/>
          <p:nvPr/>
        </p:nvSpPr>
        <p:spPr>
          <a:xfrm>
            <a:off x="1371600" y="1920240"/>
            <a:ext cx="2331720" cy="41148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Patch Management</a:t>
            </a:r>
            <a:endParaRPr lang="en-US" sz="1300" dirty="0"/>
          </a:p>
        </p:txBody>
      </p:sp>
      <p:sp>
        <p:nvSpPr>
          <p:cNvPr id="7" name="Text 4"/>
          <p:cNvSpPr/>
          <p:nvPr/>
        </p:nvSpPr>
        <p:spPr>
          <a:xfrm>
            <a:off x="731520" y="2441448"/>
            <a:ext cx="2971800" cy="594360"/>
          </a:xfrm>
          <a:prstGeom prst="rect">
            <a:avLst/>
          </a:prstGeom>
          <a:noFill/>
          <a:ln/>
        </p:spPr>
        <p:txBody>
          <a:bodyPr wrap="square" lIns="0" tIns="0" rIns="0" bIns="0" rtlCol="0" anchor="t"/>
          <a:lstStyle/>
          <a:p>
            <a:pPr indent="0" marL="0">
              <a:lnSpc>
                <a:spcPct val="110000"/>
              </a:lnSpc>
              <a:buNone/>
            </a:pPr>
            <a:r>
              <a:rPr lang="en-US" sz="1030" dirty="0">
                <a:solidFill>
                  <a:srgbClr val="CADCFC"/>
                </a:solidFill>
                <a:latin typeface="Calibri" pitchFamily="34" charset="0"/>
                <a:ea typeface="Calibri" pitchFamily="34" charset="-122"/>
                <a:cs typeface="Calibri" pitchFamily="34" charset="-120"/>
              </a:rPr>
              <a:t>Establish a rapid, prioritized patching cycle for critical vulnerabilities.</a:t>
            </a:r>
            <a:endParaRPr lang="en-US" sz="1030" dirty="0"/>
          </a:p>
        </p:txBody>
      </p:sp>
      <p:sp>
        <p:nvSpPr>
          <p:cNvPr id="8" name="Shape 5"/>
          <p:cNvSpPr/>
          <p:nvPr/>
        </p:nvSpPr>
        <p:spPr>
          <a:xfrm>
            <a:off x="4160520" y="1783080"/>
            <a:ext cx="3337560" cy="1371600"/>
          </a:xfrm>
          <a:prstGeom prst="roundRect">
            <a:avLst>
              <a:gd name="adj" fmla="val 6000"/>
            </a:avLst>
          </a:prstGeom>
          <a:solidFill>
            <a:srgbClr val="112240">
              <a:alpha val="88000"/>
            </a:srgbClr>
          </a:solidFill>
          <a:ln w="9525">
            <a:solidFill>
              <a:srgbClr val="2E86FF">
                <a:alpha val="50000"/>
              </a:srgbClr>
            </a:solidFill>
            <a:prstDash val="solid"/>
          </a:ln>
        </p:spPr>
      </p:sp>
      <p:pic>
        <p:nvPicPr>
          <p:cNvPr id="9" name="Image 1" descr="/home/claude/assets/badges/clipboard_fill.png">    </p:cNvPr>
          <p:cNvPicPr>
            <a:picLocks noChangeAspect="1"/>
          </p:cNvPicPr>
          <p:nvPr/>
        </p:nvPicPr>
        <p:blipFill>
          <a:blip r:embed="rId2"/>
          <a:stretch>
            <a:fillRect/>
          </a:stretch>
        </p:blipFill>
        <p:spPr>
          <a:xfrm>
            <a:off x="4343400" y="1965960"/>
            <a:ext cx="502920" cy="502920"/>
          </a:xfrm>
          <a:prstGeom prst="rect">
            <a:avLst/>
          </a:prstGeom>
        </p:spPr>
      </p:pic>
      <p:sp>
        <p:nvSpPr>
          <p:cNvPr id="10" name="Text 6"/>
          <p:cNvSpPr/>
          <p:nvPr/>
        </p:nvSpPr>
        <p:spPr>
          <a:xfrm>
            <a:off x="4983480" y="1920240"/>
            <a:ext cx="2331720" cy="41148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Backup Strategy</a:t>
            </a:r>
            <a:endParaRPr lang="en-US" sz="1300" dirty="0"/>
          </a:p>
        </p:txBody>
      </p:sp>
      <p:sp>
        <p:nvSpPr>
          <p:cNvPr id="11" name="Text 7"/>
          <p:cNvSpPr/>
          <p:nvPr/>
        </p:nvSpPr>
        <p:spPr>
          <a:xfrm>
            <a:off x="4343400" y="2441448"/>
            <a:ext cx="2971800" cy="594360"/>
          </a:xfrm>
          <a:prstGeom prst="rect">
            <a:avLst/>
          </a:prstGeom>
          <a:noFill/>
          <a:ln/>
        </p:spPr>
        <p:txBody>
          <a:bodyPr wrap="square" lIns="0" tIns="0" rIns="0" bIns="0" rtlCol="0" anchor="t"/>
          <a:lstStyle/>
          <a:p>
            <a:pPr indent="0" marL="0">
              <a:lnSpc>
                <a:spcPct val="110000"/>
              </a:lnSpc>
              <a:buNone/>
            </a:pPr>
            <a:r>
              <a:rPr lang="en-US" sz="1030" dirty="0">
                <a:solidFill>
                  <a:srgbClr val="CADCFC"/>
                </a:solidFill>
                <a:latin typeface="Calibri" pitchFamily="34" charset="0"/>
                <a:ea typeface="Calibri" pitchFamily="34" charset="-122"/>
                <a:cs typeface="Calibri" pitchFamily="34" charset="-120"/>
              </a:rPr>
              <a:t>Maintain the 3-2-1 backup rule with regular restore testing.</a:t>
            </a:r>
            <a:endParaRPr lang="en-US" sz="1030" dirty="0"/>
          </a:p>
        </p:txBody>
      </p:sp>
      <p:sp>
        <p:nvSpPr>
          <p:cNvPr id="12" name="Shape 8"/>
          <p:cNvSpPr/>
          <p:nvPr/>
        </p:nvSpPr>
        <p:spPr>
          <a:xfrm>
            <a:off x="7772400" y="1783080"/>
            <a:ext cx="3337560" cy="1371600"/>
          </a:xfrm>
          <a:prstGeom prst="roundRect">
            <a:avLst>
              <a:gd name="adj" fmla="val 6000"/>
            </a:avLst>
          </a:prstGeom>
          <a:solidFill>
            <a:srgbClr val="112240">
              <a:alpha val="88000"/>
            </a:srgbClr>
          </a:solidFill>
          <a:ln w="9525">
            <a:solidFill>
              <a:srgbClr val="2E86FF">
                <a:alpha val="50000"/>
              </a:srgbClr>
            </a:solidFill>
            <a:prstDash val="solid"/>
          </a:ln>
        </p:spPr>
      </p:sp>
      <p:pic>
        <p:nvPicPr>
          <p:cNvPr id="13" name="Image 2" descr="/home/claude/assets/badges/network_fill.png">    </p:cNvPr>
          <p:cNvPicPr>
            <a:picLocks noChangeAspect="1"/>
          </p:cNvPicPr>
          <p:nvPr/>
        </p:nvPicPr>
        <p:blipFill>
          <a:blip r:embed="rId3"/>
          <a:stretch>
            <a:fillRect/>
          </a:stretch>
        </p:blipFill>
        <p:spPr>
          <a:xfrm>
            <a:off x="7955280" y="1965960"/>
            <a:ext cx="502920" cy="502920"/>
          </a:xfrm>
          <a:prstGeom prst="rect">
            <a:avLst/>
          </a:prstGeom>
        </p:spPr>
      </p:pic>
      <p:sp>
        <p:nvSpPr>
          <p:cNvPr id="14" name="Text 9"/>
          <p:cNvSpPr/>
          <p:nvPr/>
        </p:nvSpPr>
        <p:spPr>
          <a:xfrm>
            <a:off x="8595360" y="1920240"/>
            <a:ext cx="2331720" cy="41148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Network Segmentation</a:t>
            </a:r>
            <a:endParaRPr lang="en-US" sz="1300" dirty="0"/>
          </a:p>
        </p:txBody>
      </p:sp>
      <p:sp>
        <p:nvSpPr>
          <p:cNvPr id="15" name="Text 10"/>
          <p:cNvSpPr/>
          <p:nvPr/>
        </p:nvSpPr>
        <p:spPr>
          <a:xfrm>
            <a:off x="7955280" y="2441448"/>
            <a:ext cx="2971800" cy="594360"/>
          </a:xfrm>
          <a:prstGeom prst="rect">
            <a:avLst/>
          </a:prstGeom>
          <a:noFill/>
          <a:ln/>
        </p:spPr>
        <p:txBody>
          <a:bodyPr wrap="square" lIns="0" tIns="0" rIns="0" bIns="0" rtlCol="0" anchor="t"/>
          <a:lstStyle/>
          <a:p>
            <a:pPr indent="0" marL="0">
              <a:lnSpc>
                <a:spcPct val="110000"/>
              </a:lnSpc>
              <a:buNone/>
            </a:pPr>
            <a:r>
              <a:rPr lang="en-US" sz="1030" dirty="0">
                <a:solidFill>
                  <a:srgbClr val="CADCFC"/>
                </a:solidFill>
                <a:latin typeface="Calibri" pitchFamily="34" charset="0"/>
                <a:ea typeface="Calibri" pitchFamily="34" charset="-122"/>
                <a:cs typeface="Calibri" pitchFamily="34" charset="-120"/>
              </a:rPr>
              <a:t>Isolate critical systems and limit unnecessary internal exposure.</a:t>
            </a:r>
            <a:endParaRPr lang="en-US" sz="1030" dirty="0"/>
          </a:p>
        </p:txBody>
      </p:sp>
      <p:sp>
        <p:nvSpPr>
          <p:cNvPr id="16" name="Shape 11"/>
          <p:cNvSpPr/>
          <p:nvPr/>
        </p:nvSpPr>
        <p:spPr>
          <a:xfrm>
            <a:off x="548640" y="3410712"/>
            <a:ext cx="3337560" cy="1371600"/>
          </a:xfrm>
          <a:prstGeom prst="roundRect">
            <a:avLst>
              <a:gd name="adj" fmla="val 6000"/>
            </a:avLst>
          </a:prstGeom>
          <a:solidFill>
            <a:srgbClr val="112240">
              <a:alpha val="88000"/>
            </a:srgbClr>
          </a:solidFill>
          <a:ln w="9525">
            <a:solidFill>
              <a:srgbClr val="2E86FF">
                <a:alpha val="50000"/>
              </a:srgbClr>
            </a:solidFill>
            <a:prstDash val="solid"/>
          </a:ln>
        </p:spPr>
      </p:sp>
      <p:pic>
        <p:nvPicPr>
          <p:cNvPr id="17" name="Image 3" descr="/home/claude/assets/badges/shield_fill.png">    </p:cNvPr>
          <p:cNvPicPr>
            <a:picLocks noChangeAspect="1"/>
          </p:cNvPicPr>
          <p:nvPr/>
        </p:nvPicPr>
        <p:blipFill>
          <a:blip r:embed="rId4"/>
          <a:stretch>
            <a:fillRect/>
          </a:stretch>
        </p:blipFill>
        <p:spPr>
          <a:xfrm>
            <a:off x="731520" y="3593592"/>
            <a:ext cx="502920" cy="502920"/>
          </a:xfrm>
          <a:prstGeom prst="rect">
            <a:avLst/>
          </a:prstGeom>
        </p:spPr>
      </p:pic>
      <p:sp>
        <p:nvSpPr>
          <p:cNvPr id="18" name="Text 12"/>
          <p:cNvSpPr/>
          <p:nvPr/>
        </p:nvSpPr>
        <p:spPr>
          <a:xfrm>
            <a:off x="1371600" y="3547872"/>
            <a:ext cx="2331720" cy="41148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Endpoint Protection</a:t>
            </a:r>
            <a:endParaRPr lang="en-US" sz="1300" dirty="0"/>
          </a:p>
        </p:txBody>
      </p:sp>
      <p:sp>
        <p:nvSpPr>
          <p:cNvPr id="19" name="Text 13"/>
          <p:cNvSpPr/>
          <p:nvPr/>
        </p:nvSpPr>
        <p:spPr>
          <a:xfrm>
            <a:off x="731520" y="4069080"/>
            <a:ext cx="2971800" cy="594360"/>
          </a:xfrm>
          <a:prstGeom prst="rect">
            <a:avLst/>
          </a:prstGeom>
          <a:noFill/>
          <a:ln/>
        </p:spPr>
        <p:txBody>
          <a:bodyPr wrap="square" lIns="0" tIns="0" rIns="0" bIns="0" rtlCol="0" anchor="t"/>
          <a:lstStyle/>
          <a:p>
            <a:pPr indent="0" marL="0">
              <a:lnSpc>
                <a:spcPct val="110000"/>
              </a:lnSpc>
              <a:buNone/>
            </a:pPr>
            <a:r>
              <a:rPr lang="en-US" sz="1030" dirty="0">
                <a:solidFill>
                  <a:srgbClr val="CADCFC"/>
                </a:solidFill>
                <a:latin typeface="Calibri" pitchFamily="34" charset="0"/>
                <a:ea typeface="Calibri" pitchFamily="34" charset="-122"/>
                <a:cs typeface="Calibri" pitchFamily="34" charset="-120"/>
              </a:rPr>
              <a:t>Deploy modern EDR/antivirus with behavior-based ransomware detection.</a:t>
            </a:r>
            <a:endParaRPr lang="en-US" sz="1030" dirty="0"/>
          </a:p>
        </p:txBody>
      </p:sp>
      <p:sp>
        <p:nvSpPr>
          <p:cNvPr id="20" name="Shape 14"/>
          <p:cNvSpPr/>
          <p:nvPr/>
        </p:nvSpPr>
        <p:spPr>
          <a:xfrm>
            <a:off x="4160520" y="3410712"/>
            <a:ext cx="3337560" cy="1371600"/>
          </a:xfrm>
          <a:prstGeom prst="roundRect">
            <a:avLst>
              <a:gd name="adj" fmla="val 6000"/>
            </a:avLst>
          </a:prstGeom>
          <a:solidFill>
            <a:srgbClr val="112240">
              <a:alpha val="88000"/>
            </a:srgbClr>
          </a:solidFill>
          <a:ln w="9525">
            <a:solidFill>
              <a:srgbClr val="2E86FF">
                <a:alpha val="50000"/>
              </a:srgbClr>
            </a:solidFill>
            <a:prstDash val="solid"/>
          </a:ln>
        </p:spPr>
      </p:sp>
      <p:pic>
        <p:nvPicPr>
          <p:cNvPr id="21" name="Image 4" descr="/home/claude/assets/badges/users_fill.png">    </p:cNvPr>
          <p:cNvPicPr>
            <a:picLocks noChangeAspect="1"/>
          </p:cNvPicPr>
          <p:nvPr/>
        </p:nvPicPr>
        <p:blipFill>
          <a:blip r:embed="rId5"/>
          <a:stretch>
            <a:fillRect/>
          </a:stretch>
        </p:blipFill>
        <p:spPr>
          <a:xfrm>
            <a:off x="4343400" y="3593592"/>
            <a:ext cx="502920" cy="502920"/>
          </a:xfrm>
          <a:prstGeom prst="rect">
            <a:avLst/>
          </a:prstGeom>
        </p:spPr>
      </p:pic>
      <p:sp>
        <p:nvSpPr>
          <p:cNvPr id="22" name="Text 15"/>
          <p:cNvSpPr/>
          <p:nvPr/>
        </p:nvSpPr>
        <p:spPr>
          <a:xfrm>
            <a:off x="4983480" y="3547872"/>
            <a:ext cx="2331720" cy="41148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Security Awareness</a:t>
            </a:r>
            <a:endParaRPr lang="en-US" sz="1300" dirty="0"/>
          </a:p>
        </p:txBody>
      </p:sp>
      <p:sp>
        <p:nvSpPr>
          <p:cNvPr id="23" name="Text 16"/>
          <p:cNvSpPr/>
          <p:nvPr/>
        </p:nvSpPr>
        <p:spPr>
          <a:xfrm>
            <a:off x="4343400" y="4069080"/>
            <a:ext cx="2971800" cy="594360"/>
          </a:xfrm>
          <a:prstGeom prst="rect">
            <a:avLst/>
          </a:prstGeom>
          <a:noFill/>
          <a:ln/>
        </p:spPr>
        <p:txBody>
          <a:bodyPr wrap="square" lIns="0" tIns="0" rIns="0" bIns="0" rtlCol="0" anchor="t"/>
          <a:lstStyle/>
          <a:p>
            <a:pPr indent="0" marL="0">
              <a:lnSpc>
                <a:spcPct val="110000"/>
              </a:lnSpc>
              <a:buNone/>
            </a:pPr>
            <a:r>
              <a:rPr lang="en-US" sz="1030" dirty="0">
                <a:solidFill>
                  <a:srgbClr val="CADCFC"/>
                </a:solidFill>
                <a:latin typeface="Calibri" pitchFamily="34" charset="0"/>
                <a:ea typeface="Calibri" pitchFamily="34" charset="-122"/>
                <a:cs typeface="Calibri" pitchFamily="34" charset="-120"/>
              </a:rPr>
              <a:t>Run regular phishing simulations and staff training programs.</a:t>
            </a:r>
            <a:endParaRPr lang="en-US" sz="1030" dirty="0"/>
          </a:p>
        </p:txBody>
      </p:sp>
      <p:sp>
        <p:nvSpPr>
          <p:cNvPr id="24" name="Shape 17"/>
          <p:cNvSpPr/>
          <p:nvPr/>
        </p:nvSpPr>
        <p:spPr>
          <a:xfrm>
            <a:off x="7772400" y="3410712"/>
            <a:ext cx="3337560" cy="1371600"/>
          </a:xfrm>
          <a:prstGeom prst="roundRect">
            <a:avLst>
              <a:gd name="adj" fmla="val 6000"/>
            </a:avLst>
          </a:prstGeom>
          <a:solidFill>
            <a:srgbClr val="112240">
              <a:alpha val="88000"/>
            </a:srgbClr>
          </a:solidFill>
          <a:ln w="9525">
            <a:solidFill>
              <a:srgbClr val="2E86FF">
                <a:alpha val="50000"/>
              </a:srgbClr>
            </a:solidFill>
            <a:prstDash val="solid"/>
          </a:ln>
        </p:spPr>
      </p:sp>
      <p:pic>
        <p:nvPicPr>
          <p:cNvPr id="25" name="Image 5" descr="/home/claude/assets/badges/key_fill.png">    </p:cNvPr>
          <p:cNvPicPr>
            <a:picLocks noChangeAspect="1"/>
          </p:cNvPicPr>
          <p:nvPr/>
        </p:nvPicPr>
        <p:blipFill>
          <a:blip r:embed="rId6"/>
          <a:stretch>
            <a:fillRect/>
          </a:stretch>
        </p:blipFill>
        <p:spPr>
          <a:xfrm>
            <a:off x="7955280" y="3593592"/>
            <a:ext cx="502920" cy="502920"/>
          </a:xfrm>
          <a:prstGeom prst="rect">
            <a:avLst/>
          </a:prstGeom>
        </p:spPr>
      </p:pic>
      <p:sp>
        <p:nvSpPr>
          <p:cNvPr id="26" name="Text 18"/>
          <p:cNvSpPr/>
          <p:nvPr/>
        </p:nvSpPr>
        <p:spPr>
          <a:xfrm>
            <a:off x="8595360" y="3547872"/>
            <a:ext cx="2331720" cy="41148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Access Control</a:t>
            </a:r>
            <a:endParaRPr lang="en-US" sz="1300" dirty="0"/>
          </a:p>
        </p:txBody>
      </p:sp>
      <p:sp>
        <p:nvSpPr>
          <p:cNvPr id="27" name="Text 19"/>
          <p:cNvSpPr/>
          <p:nvPr/>
        </p:nvSpPr>
        <p:spPr>
          <a:xfrm>
            <a:off x="7955280" y="4069080"/>
            <a:ext cx="2971800" cy="594360"/>
          </a:xfrm>
          <a:prstGeom prst="rect">
            <a:avLst/>
          </a:prstGeom>
          <a:noFill/>
          <a:ln/>
        </p:spPr>
        <p:txBody>
          <a:bodyPr wrap="square" lIns="0" tIns="0" rIns="0" bIns="0" rtlCol="0" anchor="t"/>
          <a:lstStyle/>
          <a:p>
            <a:pPr indent="0" marL="0">
              <a:lnSpc>
                <a:spcPct val="110000"/>
              </a:lnSpc>
              <a:buNone/>
            </a:pPr>
            <a:r>
              <a:rPr lang="en-US" sz="1030" dirty="0">
                <a:solidFill>
                  <a:srgbClr val="CADCFC"/>
                </a:solidFill>
                <a:latin typeface="Calibri" pitchFamily="34" charset="0"/>
                <a:ea typeface="Calibri" pitchFamily="34" charset="-122"/>
                <a:cs typeface="Calibri" pitchFamily="34" charset="-120"/>
              </a:rPr>
              <a:t>Apply least-privilege principles and multi-factor authentication.</a:t>
            </a:r>
            <a:endParaRPr lang="en-US" sz="1030" dirty="0"/>
          </a:p>
        </p:txBody>
      </p:sp>
      <p:sp>
        <p:nvSpPr>
          <p:cNvPr id="28" name="Text 20"/>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8FA9C9"/>
                </a:solidFill>
                <a:latin typeface="Calibri" pitchFamily="34" charset="0"/>
                <a:ea typeface="Calibri" pitchFamily="34" charset="-122"/>
                <a:cs typeface="Calibri" pitchFamily="34" charset="-120"/>
              </a:rPr>
              <a:t>WANNACRY RANSOMWARE ATTACK  |  CYBERSECURITY SEMINAR</a:t>
            </a:r>
            <a:endParaRPr lang="en-US" sz="900" dirty="0"/>
          </a:p>
        </p:txBody>
      </p:sp>
      <p:sp>
        <p:nvSpPr>
          <p:cNvPr id="29" name="Text 21"/>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8FA9C9"/>
                </a:solidFill>
                <a:latin typeface="Calibri" pitchFamily="34" charset="0"/>
                <a:ea typeface="Calibri" pitchFamily="34" charset="-122"/>
                <a:cs typeface="Calibri" pitchFamily="34" charset="-120"/>
              </a:rPr>
              <a:t>12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3EC6FF"/>
                </a:solidFill>
                <a:latin typeface="Calibri" pitchFamily="34" charset="0"/>
                <a:ea typeface="Calibri" pitchFamily="34" charset="-122"/>
                <a:cs typeface="Calibri" pitchFamily="34" charset="-120"/>
              </a:rPr>
              <a:t>LOOKING AHEAD</a:t>
            </a:r>
            <a:endParaRPr lang="en-US" sz="1250" dirty="0"/>
          </a:p>
        </p:txBody>
      </p:sp>
      <p:sp>
        <p:nvSpPr>
          <p:cNvPr id="3" name="Text 1"/>
          <p:cNvSpPr/>
          <p:nvPr/>
        </p:nvSpPr>
        <p:spPr>
          <a:xfrm>
            <a:off x="548640" y="685800"/>
            <a:ext cx="10607040" cy="82296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Future of Cybersecurity</a:t>
            </a:r>
            <a:endParaRPr lang="en-US" sz="3200" dirty="0"/>
          </a:p>
        </p:txBody>
      </p:sp>
      <p:sp>
        <p:nvSpPr>
          <p:cNvPr id="4" name="Shape 2"/>
          <p:cNvSpPr/>
          <p:nvPr/>
        </p:nvSpPr>
        <p:spPr>
          <a:xfrm>
            <a:off x="548640" y="1783080"/>
            <a:ext cx="5166360" cy="2057400"/>
          </a:xfrm>
          <a:prstGeom prst="roundRect">
            <a:avLst>
              <a:gd name="adj" fmla="val 4444"/>
            </a:avLst>
          </a:prstGeom>
          <a:solidFill>
            <a:srgbClr val="112240">
              <a:alpha val="90000"/>
            </a:srgbClr>
          </a:solidFill>
          <a:ln w="11430">
            <a:solidFill>
              <a:srgbClr val="2E86FF">
                <a:alpha val="60000"/>
              </a:srgbClr>
            </a:solidFill>
            <a:prstDash val="solid"/>
          </a:ln>
          <a:effectLst>
            <a:outerShdw sx="100000" sy="100000" kx="0" ky="0" algn="bl" rotWithShape="0" blurRad="101600" dist="38100" dir="5400000">
              <a:srgbClr val="000000">
                <a:alpha val="30000"/>
              </a:srgbClr>
            </a:outerShdw>
          </a:effectLst>
        </p:spPr>
      </p:sp>
      <p:pic>
        <p:nvPicPr>
          <p:cNvPr id="5" name="Image 0" descr="/home/claude/assets/badges/brain_fill.png">    </p:cNvPr>
          <p:cNvPicPr>
            <a:picLocks noChangeAspect="1"/>
          </p:cNvPicPr>
          <p:nvPr/>
        </p:nvPicPr>
        <p:blipFill>
          <a:blip r:embed="rId1"/>
          <a:stretch>
            <a:fillRect/>
          </a:stretch>
        </p:blipFill>
        <p:spPr>
          <a:xfrm>
            <a:off x="804672" y="2039112"/>
            <a:ext cx="685800" cy="685800"/>
          </a:xfrm>
          <a:prstGeom prst="rect">
            <a:avLst/>
          </a:prstGeom>
        </p:spPr>
      </p:pic>
      <p:sp>
        <p:nvSpPr>
          <p:cNvPr id="6" name="Text 3"/>
          <p:cNvSpPr/>
          <p:nvPr/>
        </p:nvSpPr>
        <p:spPr>
          <a:xfrm>
            <a:off x="1645920" y="2057400"/>
            <a:ext cx="388620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AI-Driven Security</a:t>
            </a:r>
            <a:endParaRPr lang="en-US" sz="1700" dirty="0"/>
          </a:p>
        </p:txBody>
      </p:sp>
      <p:sp>
        <p:nvSpPr>
          <p:cNvPr id="7" name="Text 4"/>
          <p:cNvSpPr/>
          <p:nvPr/>
        </p:nvSpPr>
        <p:spPr>
          <a:xfrm>
            <a:off x="822960" y="2834640"/>
            <a:ext cx="4617720" cy="868680"/>
          </a:xfrm>
          <a:prstGeom prst="rect">
            <a:avLst/>
          </a:prstGeom>
          <a:noFill/>
          <a:ln/>
        </p:spPr>
        <p:txBody>
          <a:bodyPr wrap="square" lIns="0" tIns="0" rIns="0" bIns="0" rtlCol="0" anchor="t"/>
          <a:lstStyle/>
          <a:p>
            <a:pPr indent="0" marL="0">
              <a:lnSpc>
                <a:spcPct val="120000"/>
              </a:lnSpc>
              <a:buNone/>
            </a:pPr>
            <a:r>
              <a:rPr lang="en-US" sz="1250" dirty="0">
                <a:solidFill>
                  <a:srgbClr val="CADCFC"/>
                </a:solidFill>
                <a:latin typeface="Calibri" pitchFamily="34" charset="0"/>
                <a:ea typeface="Calibri" pitchFamily="34" charset="-122"/>
                <a:cs typeface="Calibri" pitchFamily="34" charset="-120"/>
              </a:rPr>
              <a:t>Machine learning detects anomalies and automates threat response at scale.</a:t>
            </a:r>
            <a:endParaRPr lang="en-US" sz="1250" dirty="0"/>
          </a:p>
        </p:txBody>
      </p:sp>
      <p:sp>
        <p:nvSpPr>
          <p:cNvPr id="8" name="Shape 5"/>
          <p:cNvSpPr/>
          <p:nvPr/>
        </p:nvSpPr>
        <p:spPr>
          <a:xfrm>
            <a:off x="5989320" y="1783080"/>
            <a:ext cx="5166360" cy="2057400"/>
          </a:xfrm>
          <a:prstGeom prst="roundRect">
            <a:avLst>
              <a:gd name="adj" fmla="val 4444"/>
            </a:avLst>
          </a:prstGeom>
          <a:solidFill>
            <a:srgbClr val="112240">
              <a:alpha val="90000"/>
            </a:srgbClr>
          </a:solidFill>
          <a:ln w="11430">
            <a:solidFill>
              <a:srgbClr val="2E86FF">
                <a:alpha val="60000"/>
              </a:srgbClr>
            </a:solidFill>
            <a:prstDash val="solid"/>
          </a:ln>
          <a:effectLst>
            <a:outerShdw sx="100000" sy="100000" kx="0" ky="0" algn="bl" rotWithShape="0" blurRad="101600" dist="38100" dir="5400000">
              <a:srgbClr val="000000">
                <a:alpha val="30000"/>
              </a:srgbClr>
            </a:outerShdw>
          </a:effectLst>
        </p:spPr>
      </p:sp>
      <p:pic>
        <p:nvPicPr>
          <p:cNvPr id="9" name="Image 1" descr="/home/claude/assets/badges/shieldVirus_fill.png">    </p:cNvPr>
          <p:cNvPicPr>
            <a:picLocks noChangeAspect="1"/>
          </p:cNvPicPr>
          <p:nvPr/>
        </p:nvPicPr>
        <p:blipFill>
          <a:blip r:embed="rId2"/>
          <a:stretch>
            <a:fillRect/>
          </a:stretch>
        </p:blipFill>
        <p:spPr>
          <a:xfrm>
            <a:off x="6245352" y="2039112"/>
            <a:ext cx="685800" cy="685800"/>
          </a:xfrm>
          <a:prstGeom prst="rect">
            <a:avLst/>
          </a:prstGeom>
        </p:spPr>
      </p:pic>
      <p:sp>
        <p:nvSpPr>
          <p:cNvPr id="10" name="Text 6"/>
          <p:cNvSpPr/>
          <p:nvPr/>
        </p:nvSpPr>
        <p:spPr>
          <a:xfrm>
            <a:off x="7086600" y="2057400"/>
            <a:ext cx="388620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Zero Trust Architecture</a:t>
            </a:r>
            <a:endParaRPr lang="en-US" sz="1700" dirty="0"/>
          </a:p>
        </p:txBody>
      </p:sp>
      <p:sp>
        <p:nvSpPr>
          <p:cNvPr id="11" name="Text 7"/>
          <p:cNvSpPr/>
          <p:nvPr/>
        </p:nvSpPr>
        <p:spPr>
          <a:xfrm>
            <a:off x="6263640" y="2834640"/>
            <a:ext cx="4617720" cy="868680"/>
          </a:xfrm>
          <a:prstGeom prst="rect">
            <a:avLst/>
          </a:prstGeom>
          <a:noFill/>
          <a:ln/>
        </p:spPr>
        <p:txBody>
          <a:bodyPr wrap="square" lIns="0" tIns="0" rIns="0" bIns="0" rtlCol="0" anchor="t"/>
          <a:lstStyle/>
          <a:p>
            <a:pPr indent="0" marL="0">
              <a:lnSpc>
                <a:spcPct val="120000"/>
              </a:lnSpc>
              <a:buNone/>
            </a:pPr>
            <a:r>
              <a:rPr lang="en-US" sz="1250" dirty="0">
                <a:solidFill>
                  <a:srgbClr val="CADCFC"/>
                </a:solidFill>
                <a:latin typeface="Calibri" pitchFamily="34" charset="0"/>
                <a:ea typeface="Calibri" pitchFamily="34" charset="-122"/>
                <a:cs typeface="Calibri" pitchFamily="34" charset="-120"/>
              </a:rPr>
              <a:t>"Never trust, always verify" — continuous authentication for every request.</a:t>
            </a:r>
            <a:endParaRPr lang="en-US" sz="1250" dirty="0"/>
          </a:p>
        </p:txBody>
      </p:sp>
      <p:sp>
        <p:nvSpPr>
          <p:cNvPr id="12" name="Shape 8"/>
          <p:cNvSpPr/>
          <p:nvPr/>
        </p:nvSpPr>
        <p:spPr>
          <a:xfrm>
            <a:off x="548640" y="4096512"/>
            <a:ext cx="5166360" cy="2057400"/>
          </a:xfrm>
          <a:prstGeom prst="roundRect">
            <a:avLst>
              <a:gd name="adj" fmla="val 4444"/>
            </a:avLst>
          </a:prstGeom>
          <a:solidFill>
            <a:srgbClr val="112240">
              <a:alpha val="90000"/>
            </a:srgbClr>
          </a:solidFill>
          <a:ln w="11430">
            <a:solidFill>
              <a:srgbClr val="2E86FF">
                <a:alpha val="60000"/>
              </a:srgbClr>
            </a:solidFill>
            <a:prstDash val="solid"/>
          </a:ln>
          <a:effectLst>
            <a:outerShdw sx="100000" sy="100000" kx="0" ky="0" algn="bl" rotWithShape="0" blurRad="101600" dist="38100" dir="5400000">
              <a:srgbClr val="000000">
                <a:alpha val="30000"/>
              </a:srgbClr>
            </a:outerShdw>
          </a:effectLst>
        </p:spPr>
      </p:sp>
      <p:pic>
        <p:nvPicPr>
          <p:cNvPr id="13" name="Image 2" descr="/home/claude/assets/badges/heartbeat_fill.png">    </p:cNvPr>
          <p:cNvPicPr>
            <a:picLocks noChangeAspect="1"/>
          </p:cNvPicPr>
          <p:nvPr/>
        </p:nvPicPr>
        <p:blipFill>
          <a:blip r:embed="rId3"/>
          <a:stretch>
            <a:fillRect/>
          </a:stretch>
        </p:blipFill>
        <p:spPr>
          <a:xfrm>
            <a:off x="804672" y="4352544"/>
            <a:ext cx="685800" cy="685800"/>
          </a:xfrm>
          <a:prstGeom prst="rect">
            <a:avLst/>
          </a:prstGeom>
        </p:spPr>
      </p:pic>
      <p:sp>
        <p:nvSpPr>
          <p:cNvPr id="14" name="Text 9"/>
          <p:cNvSpPr/>
          <p:nvPr/>
        </p:nvSpPr>
        <p:spPr>
          <a:xfrm>
            <a:off x="1645920" y="4370832"/>
            <a:ext cx="388620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IoMT Security</a:t>
            </a:r>
            <a:endParaRPr lang="en-US" sz="1700" dirty="0"/>
          </a:p>
        </p:txBody>
      </p:sp>
      <p:sp>
        <p:nvSpPr>
          <p:cNvPr id="15" name="Text 10"/>
          <p:cNvSpPr/>
          <p:nvPr/>
        </p:nvSpPr>
        <p:spPr>
          <a:xfrm>
            <a:off x="822960" y="5148072"/>
            <a:ext cx="4617720" cy="868680"/>
          </a:xfrm>
          <a:prstGeom prst="rect">
            <a:avLst/>
          </a:prstGeom>
          <a:noFill/>
          <a:ln/>
        </p:spPr>
        <p:txBody>
          <a:bodyPr wrap="square" lIns="0" tIns="0" rIns="0" bIns="0" rtlCol="0" anchor="t"/>
          <a:lstStyle/>
          <a:p>
            <a:pPr indent="0" marL="0">
              <a:lnSpc>
                <a:spcPct val="120000"/>
              </a:lnSpc>
              <a:buNone/>
            </a:pPr>
            <a:r>
              <a:rPr lang="en-US" sz="1250" dirty="0">
                <a:solidFill>
                  <a:srgbClr val="CADCFC"/>
                </a:solidFill>
                <a:latin typeface="Calibri" pitchFamily="34" charset="0"/>
                <a:ea typeface="Calibri" pitchFamily="34" charset="-122"/>
                <a:cs typeface="Calibri" pitchFamily="34" charset="-120"/>
              </a:rPr>
              <a:t>Protecting connected medical devices as healthcare networks digitize further.</a:t>
            </a:r>
            <a:endParaRPr lang="en-US" sz="1250" dirty="0"/>
          </a:p>
        </p:txBody>
      </p:sp>
      <p:sp>
        <p:nvSpPr>
          <p:cNvPr id="16" name="Shape 11"/>
          <p:cNvSpPr/>
          <p:nvPr/>
        </p:nvSpPr>
        <p:spPr>
          <a:xfrm>
            <a:off x="5989320" y="4096512"/>
            <a:ext cx="5166360" cy="2057400"/>
          </a:xfrm>
          <a:prstGeom prst="roundRect">
            <a:avLst>
              <a:gd name="adj" fmla="val 4444"/>
            </a:avLst>
          </a:prstGeom>
          <a:solidFill>
            <a:srgbClr val="112240">
              <a:alpha val="90000"/>
            </a:srgbClr>
          </a:solidFill>
          <a:ln w="11430">
            <a:solidFill>
              <a:srgbClr val="2E86FF">
                <a:alpha val="60000"/>
              </a:srgbClr>
            </a:solidFill>
            <a:prstDash val="solid"/>
          </a:ln>
          <a:effectLst>
            <a:outerShdw sx="100000" sy="100000" kx="0" ky="0" algn="bl" rotWithShape="0" blurRad="101600" dist="38100" dir="5400000">
              <a:srgbClr val="000000">
                <a:alpha val="30000"/>
              </a:srgbClr>
            </a:outerShdw>
          </a:effectLst>
        </p:spPr>
      </p:sp>
      <p:pic>
        <p:nvPicPr>
          <p:cNvPr id="17" name="Image 3" descr="/home/claude/assets/badges/cloud_fill.png">    </p:cNvPr>
          <p:cNvPicPr>
            <a:picLocks noChangeAspect="1"/>
          </p:cNvPicPr>
          <p:nvPr/>
        </p:nvPicPr>
        <p:blipFill>
          <a:blip r:embed="rId4"/>
          <a:stretch>
            <a:fillRect/>
          </a:stretch>
        </p:blipFill>
        <p:spPr>
          <a:xfrm>
            <a:off x="6245352" y="4352544"/>
            <a:ext cx="685800" cy="685800"/>
          </a:xfrm>
          <a:prstGeom prst="rect">
            <a:avLst/>
          </a:prstGeom>
        </p:spPr>
      </p:pic>
      <p:sp>
        <p:nvSpPr>
          <p:cNvPr id="18" name="Text 12"/>
          <p:cNvSpPr/>
          <p:nvPr/>
        </p:nvSpPr>
        <p:spPr>
          <a:xfrm>
            <a:off x="7086600" y="4370832"/>
            <a:ext cx="388620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Cloud Security</a:t>
            </a:r>
            <a:endParaRPr lang="en-US" sz="1700" dirty="0"/>
          </a:p>
        </p:txBody>
      </p:sp>
      <p:sp>
        <p:nvSpPr>
          <p:cNvPr id="19" name="Text 13"/>
          <p:cNvSpPr/>
          <p:nvPr/>
        </p:nvSpPr>
        <p:spPr>
          <a:xfrm>
            <a:off x="6263640" y="5148072"/>
            <a:ext cx="4617720" cy="868680"/>
          </a:xfrm>
          <a:prstGeom prst="rect">
            <a:avLst/>
          </a:prstGeom>
          <a:noFill/>
          <a:ln/>
        </p:spPr>
        <p:txBody>
          <a:bodyPr wrap="square" lIns="0" tIns="0" rIns="0" bIns="0" rtlCol="0" anchor="t"/>
          <a:lstStyle/>
          <a:p>
            <a:pPr indent="0" marL="0">
              <a:lnSpc>
                <a:spcPct val="120000"/>
              </a:lnSpc>
              <a:buNone/>
            </a:pPr>
            <a:r>
              <a:rPr lang="en-US" sz="1250" dirty="0">
                <a:solidFill>
                  <a:srgbClr val="CADCFC"/>
                </a:solidFill>
                <a:latin typeface="Calibri" pitchFamily="34" charset="0"/>
                <a:ea typeface="Calibri" pitchFamily="34" charset="-122"/>
                <a:cs typeface="Calibri" pitchFamily="34" charset="-120"/>
              </a:rPr>
              <a:t>Shared-responsibility models and cloud-native tools secure distributed infrastructure.</a:t>
            </a:r>
            <a:endParaRPr lang="en-US" sz="1250" dirty="0"/>
          </a:p>
        </p:txBody>
      </p:sp>
      <p:sp>
        <p:nvSpPr>
          <p:cNvPr id="20" name="Text 14"/>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8FA9C9"/>
                </a:solidFill>
                <a:latin typeface="Calibri" pitchFamily="34" charset="0"/>
                <a:ea typeface="Calibri" pitchFamily="34" charset="-122"/>
                <a:cs typeface="Calibri" pitchFamily="34" charset="-120"/>
              </a:rPr>
              <a:t>WANNACRY RANSOMWARE ATTACK  |  CYBERSECURITY SEMINAR</a:t>
            </a:r>
            <a:endParaRPr lang="en-US" sz="900" dirty="0"/>
          </a:p>
        </p:txBody>
      </p:sp>
      <p:sp>
        <p:nvSpPr>
          <p:cNvPr id="21" name="Text 15"/>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8FA9C9"/>
                </a:solidFill>
                <a:latin typeface="Calibri" pitchFamily="34" charset="0"/>
                <a:ea typeface="Calibri" pitchFamily="34" charset="-122"/>
                <a:cs typeface="Calibri" pitchFamily="34" charset="-120"/>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3EC6FF"/>
                </a:solidFill>
                <a:latin typeface="Calibri" pitchFamily="34" charset="0"/>
                <a:ea typeface="Calibri" pitchFamily="34" charset="-122"/>
                <a:cs typeface="Calibri" pitchFamily="34" charset="-120"/>
              </a:rPr>
              <a:t>CONCLUSION</a:t>
            </a:r>
            <a:endParaRPr lang="en-US" sz="1250" dirty="0"/>
          </a:p>
        </p:txBody>
      </p:sp>
      <p:sp>
        <p:nvSpPr>
          <p:cNvPr id="3" name="Text 1"/>
          <p:cNvSpPr/>
          <p:nvPr/>
        </p:nvSpPr>
        <p:spPr>
          <a:xfrm>
            <a:off x="548640" y="685800"/>
            <a:ext cx="10607040" cy="82296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Key Takeaways &amp; Conclusion</a:t>
            </a:r>
            <a:endParaRPr lang="en-US" sz="3200" dirty="0"/>
          </a:p>
        </p:txBody>
      </p:sp>
      <p:sp>
        <p:nvSpPr>
          <p:cNvPr id="4" name="Shape 2"/>
          <p:cNvSpPr/>
          <p:nvPr/>
        </p:nvSpPr>
        <p:spPr>
          <a:xfrm>
            <a:off x="548640" y="1691640"/>
            <a:ext cx="6309360" cy="4434840"/>
          </a:xfrm>
          <a:prstGeom prst="roundRect">
            <a:avLst>
              <a:gd name="adj" fmla="val 1649"/>
            </a:avLst>
          </a:prstGeom>
          <a:solidFill>
            <a:srgbClr val="112240">
              <a:alpha val="85000"/>
            </a:srgbClr>
          </a:solidFill>
          <a:ln w="9525">
            <a:solidFill>
              <a:srgbClr val="2E86FF">
                <a:alpha val="45000"/>
              </a:srgbClr>
            </a:solidFill>
            <a:prstDash val="solid"/>
          </a:ln>
          <a:effectLst>
            <a:outerShdw sx="100000" sy="100000" kx="0" ky="0" algn="bl" rotWithShape="0" blurRad="101600" dist="38100" dir="5400000">
              <a:srgbClr val="000000">
                <a:alpha val="35000"/>
              </a:srgbClr>
            </a:outerShdw>
          </a:effectLst>
        </p:spPr>
      </p:sp>
      <p:pic>
        <p:nvPicPr>
          <p:cNvPr id="5" name="Image 0" descr="/home/claude/assets/badges/checkCircle_fill.png">    </p:cNvPr>
          <p:cNvPicPr>
            <a:picLocks noChangeAspect="1"/>
          </p:cNvPicPr>
          <p:nvPr/>
        </p:nvPicPr>
        <p:blipFill>
          <a:blip r:embed="rId1"/>
          <a:stretch>
            <a:fillRect/>
          </a:stretch>
        </p:blipFill>
        <p:spPr>
          <a:xfrm>
            <a:off x="749808" y="1892808"/>
            <a:ext cx="457200" cy="457200"/>
          </a:xfrm>
          <a:prstGeom prst="rect">
            <a:avLst/>
          </a:prstGeom>
        </p:spPr>
      </p:pic>
      <p:sp>
        <p:nvSpPr>
          <p:cNvPr id="6" name="Text 3"/>
          <p:cNvSpPr/>
          <p:nvPr/>
        </p:nvSpPr>
        <p:spPr>
          <a:xfrm>
            <a:off x="1371600" y="1874520"/>
            <a:ext cx="530352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What WannaCry Taught the World</a:t>
            </a:r>
            <a:endParaRPr lang="en-US" sz="1600" dirty="0"/>
          </a:p>
        </p:txBody>
      </p:sp>
      <p:sp>
        <p:nvSpPr>
          <p:cNvPr id="7" name="Text 4"/>
          <p:cNvSpPr/>
          <p:nvPr/>
        </p:nvSpPr>
        <p:spPr>
          <a:xfrm>
            <a:off x="777240" y="2468880"/>
            <a:ext cx="5852160" cy="3520440"/>
          </a:xfrm>
          <a:prstGeom prst="rect">
            <a:avLst/>
          </a:prstGeom>
          <a:noFill/>
          <a:ln/>
        </p:spPr>
        <p:txBody>
          <a:bodyPr wrap="square" lIns="0" tIns="0" rIns="0" bIns="0" rtlCol="0" anchor="t"/>
          <a:lstStyle/>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A single unpatched vulnerability can cause global-scale disruption</a:t>
            </a:r>
            <a:endParaRPr lang="en-US" sz="1350" dirty="0"/>
          </a:p>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Ransomware + self-propagation multiplies damage exponentially</a:t>
            </a:r>
            <a:endParaRPr lang="en-US" sz="1350" dirty="0"/>
          </a:p>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Basic hygiene — patching, backups, segmentation — remains foundational</a:t>
            </a:r>
            <a:endParaRPr lang="en-US" sz="1350" dirty="0"/>
          </a:p>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Cross-border cooperation is essential for rapid incident response</a:t>
            </a:r>
            <a:endParaRPr lang="en-US" sz="1350" dirty="0"/>
          </a:p>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Cybersecurity is a continuous process, not a one-time investment</a:t>
            </a:r>
            <a:endParaRPr lang="en-US" sz="1350" dirty="0"/>
          </a:p>
          <a:p>
            <a:pPr marL="177800" indent="-177800">
              <a:lnSpc>
                <a:spcPct val="105000"/>
              </a:lnSpc>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Preparedness and resilience matter as much as prevention</a:t>
            </a:r>
            <a:endParaRPr lang="en-US" sz="1350" dirty="0"/>
          </a:p>
        </p:txBody>
      </p:sp>
      <p:sp>
        <p:nvSpPr>
          <p:cNvPr id="8" name="Shape 5"/>
          <p:cNvSpPr/>
          <p:nvPr/>
        </p:nvSpPr>
        <p:spPr>
          <a:xfrm>
            <a:off x="7132320" y="1691640"/>
            <a:ext cx="4526280" cy="1298448"/>
          </a:xfrm>
          <a:prstGeom prst="roundRect">
            <a:avLst>
              <a:gd name="adj" fmla="val 6338"/>
            </a:avLst>
          </a:prstGeom>
          <a:solidFill>
            <a:srgbClr val="16304F">
              <a:alpha val="90000"/>
            </a:srgbClr>
          </a:solidFill>
          <a:ln w="12700">
            <a:solidFill>
              <a:srgbClr val="3EC6FF">
                <a:alpha val="70000"/>
              </a:srgbClr>
            </a:solidFill>
            <a:prstDash val="solid"/>
          </a:ln>
        </p:spPr>
      </p:sp>
      <p:sp>
        <p:nvSpPr>
          <p:cNvPr id="9" name="Text 6"/>
          <p:cNvSpPr/>
          <p:nvPr/>
        </p:nvSpPr>
        <p:spPr>
          <a:xfrm>
            <a:off x="7315200" y="1828800"/>
            <a:ext cx="4160520" cy="640080"/>
          </a:xfrm>
          <a:prstGeom prst="rect">
            <a:avLst/>
          </a:prstGeom>
          <a:noFill/>
          <a:ln/>
        </p:spPr>
        <p:txBody>
          <a:bodyPr wrap="square" lIns="0" tIns="0" rIns="0" bIns="0" rtlCol="0" anchor="ctr"/>
          <a:lstStyle/>
          <a:p>
            <a:pPr indent="0" marL="0">
              <a:buNone/>
            </a:pPr>
            <a:r>
              <a:rPr lang="en-US" sz="3400" b="1" dirty="0">
                <a:solidFill>
                  <a:srgbClr val="3EC6FF"/>
                </a:solidFill>
                <a:latin typeface="Cambria" pitchFamily="34" charset="0"/>
                <a:ea typeface="Cambria" pitchFamily="34" charset="-122"/>
                <a:cs typeface="Cambria" pitchFamily="34" charset="-120"/>
              </a:rPr>
              <a:t>300K+</a:t>
            </a:r>
            <a:endParaRPr lang="en-US" sz="3400" dirty="0"/>
          </a:p>
        </p:txBody>
      </p:sp>
      <p:sp>
        <p:nvSpPr>
          <p:cNvPr id="10" name="Text 7"/>
          <p:cNvSpPr/>
          <p:nvPr/>
        </p:nvSpPr>
        <p:spPr>
          <a:xfrm>
            <a:off x="7315200" y="2514600"/>
            <a:ext cx="4160520" cy="41148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Devices infected worldwide</a:t>
            </a:r>
            <a:endParaRPr lang="en-US" sz="1300" dirty="0"/>
          </a:p>
        </p:txBody>
      </p:sp>
      <p:sp>
        <p:nvSpPr>
          <p:cNvPr id="11" name="Shape 8"/>
          <p:cNvSpPr/>
          <p:nvPr/>
        </p:nvSpPr>
        <p:spPr>
          <a:xfrm>
            <a:off x="7132320" y="3172968"/>
            <a:ext cx="4526280" cy="1298448"/>
          </a:xfrm>
          <a:prstGeom prst="roundRect">
            <a:avLst>
              <a:gd name="adj" fmla="val 6338"/>
            </a:avLst>
          </a:prstGeom>
          <a:solidFill>
            <a:srgbClr val="16304F">
              <a:alpha val="90000"/>
            </a:srgbClr>
          </a:solidFill>
          <a:ln w="12700">
            <a:solidFill>
              <a:srgbClr val="3EC6FF">
                <a:alpha val="70000"/>
              </a:srgbClr>
            </a:solidFill>
            <a:prstDash val="solid"/>
          </a:ln>
        </p:spPr>
      </p:sp>
      <p:sp>
        <p:nvSpPr>
          <p:cNvPr id="12" name="Text 9"/>
          <p:cNvSpPr/>
          <p:nvPr/>
        </p:nvSpPr>
        <p:spPr>
          <a:xfrm>
            <a:off x="7315200" y="3310128"/>
            <a:ext cx="4160520" cy="640080"/>
          </a:xfrm>
          <a:prstGeom prst="rect">
            <a:avLst/>
          </a:prstGeom>
          <a:noFill/>
          <a:ln/>
        </p:spPr>
        <p:txBody>
          <a:bodyPr wrap="square" lIns="0" tIns="0" rIns="0" bIns="0" rtlCol="0" anchor="ctr"/>
          <a:lstStyle/>
          <a:p>
            <a:pPr indent="0" marL="0">
              <a:buNone/>
            </a:pPr>
            <a:r>
              <a:rPr lang="en-US" sz="3400" b="1" dirty="0">
                <a:solidFill>
                  <a:srgbClr val="3EC6FF"/>
                </a:solidFill>
                <a:latin typeface="Cambria" pitchFamily="34" charset="0"/>
                <a:ea typeface="Cambria" pitchFamily="34" charset="-122"/>
                <a:cs typeface="Cambria" pitchFamily="34" charset="-120"/>
              </a:rPr>
              <a:t>150+</a:t>
            </a:r>
            <a:endParaRPr lang="en-US" sz="3400" dirty="0"/>
          </a:p>
        </p:txBody>
      </p:sp>
      <p:sp>
        <p:nvSpPr>
          <p:cNvPr id="13" name="Text 10"/>
          <p:cNvSpPr/>
          <p:nvPr/>
        </p:nvSpPr>
        <p:spPr>
          <a:xfrm>
            <a:off x="7315200" y="3995928"/>
            <a:ext cx="4160520" cy="41148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Countries impacted</a:t>
            </a:r>
            <a:endParaRPr lang="en-US" sz="1300" dirty="0"/>
          </a:p>
        </p:txBody>
      </p:sp>
      <p:sp>
        <p:nvSpPr>
          <p:cNvPr id="14" name="Shape 11"/>
          <p:cNvSpPr/>
          <p:nvPr/>
        </p:nvSpPr>
        <p:spPr>
          <a:xfrm>
            <a:off x="7132320" y="4654296"/>
            <a:ext cx="4526280" cy="1298448"/>
          </a:xfrm>
          <a:prstGeom prst="roundRect">
            <a:avLst>
              <a:gd name="adj" fmla="val 6338"/>
            </a:avLst>
          </a:prstGeom>
          <a:solidFill>
            <a:srgbClr val="16304F">
              <a:alpha val="90000"/>
            </a:srgbClr>
          </a:solidFill>
          <a:ln w="12700">
            <a:solidFill>
              <a:srgbClr val="3EC6FF">
                <a:alpha val="70000"/>
              </a:srgbClr>
            </a:solidFill>
            <a:prstDash val="solid"/>
          </a:ln>
        </p:spPr>
      </p:sp>
      <p:sp>
        <p:nvSpPr>
          <p:cNvPr id="15" name="Text 12"/>
          <p:cNvSpPr/>
          <p:nvPr/>
        </p:nvSpPr>
        <p:spPr>
          <a:xfrm>
            <a:off x="7315200" y="4791456"/>
            <a:ext cx="4160520" cy="640080"/>
          </a:xfrm>
          <a:prstGeom prst="rect">
            <a:avLst/>
          </a:prstGeom>
          <a:noFill/>
          <a:ln/>
        </p:spPr>
        <p:txBody>
          <a:bodyPr wrap="square" lIns="0" tIns="0" rIns="0" bIns="0" rtlCol="0" anchor="ctr"/>
          <a:lstStyle/>
          <a:p>
            <a:pPr indent="0" marL="0">
              <a:buNone/>
            </a:pPr>
            <a:r>
              <a:rPr lang="en-US" sz="3400" b="1" dirty="0">
                <a:solidFill>
                  <a:srgbClr val="3EC6FF"/>
                </a:solidFill>
                <a:latin typeface="Cambria" pitchFamily="34" charset="0"/>
                <a:ea typeface="Cambria" pitchFamily="34" charset="-122"/>
                <a:cs typeface="Cambria" pitchFamily="34" charset="-120"/>
              </a:rPr>
              <a:t>$4B+</a:t>
            </a:r>
            <a:endParaRPr lang="en-US" sz="3400" dirty="0"/>
          </a:p>
        </p:txBody>
      </p:sp>
      <p:sp>
        <p:nvSpPr>
          <p:cNvPr id="16" name="Text 13"/>
          <p:cNvSpPr/>
          <p:nvPr/>
        </p:nvSpPr>
        <p:spPr>
          <a:xfrm>
            <a:off x="7315200" y="5477256"/>
            <a:ext cx="4160520" cy="41148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Estimated economic damage</a:t>
            </a:r>
            <a:endParaRPr lang="en-US" sz="1300" dirty="0"/>
          </a:p>
        </p:txBody>
      </p:sp>
      <p:sp>
        <p:nvSpPr>
          <p:cNvPr id="17" name="Text 14"/>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8FA9C9"/>
                </a:solidFill>
                <a:latin typeface="Calibri" pitchFamily="34" charset="0"/>
                <a:ea typeface="Calibri" pitchFamily="34" charset="-122"/>
                <a:cs typeface="Calibri" pitchFamily="34" charset="-120"/>
              </a:rPr>
              <a:t>WANNACRY RANSOMWARE ATTACK  |  CYBERSECURITY SEMINAR</a:t>
            </a:r>
            <a:endParaRPr lang="en-US" sz="900" dirty="0"/>
          </a:p>
        </p:txBody>
      </p:sp>
      <p:sp>
        <p:nvSpPr>
          <p:cNvPr id="18" name="Text 15"/>
          <p:cNvSpPr/>
          <p:nvPr/>
        </p:nvSpPr>
        <p:spPr>
          <a:xfrm>
            <a:off x="11002975" y="6473952"/>
            <a:ext cx="731520" cy="274320"/>
          </a:xfrm>
          <a:prstGeom prst="rect">
            <a:avLst/>
          </a:prstGeom>
          <a:noFill/>
          <a:ln/>
        </p:spPr>
        <p:txBody>
          <a:bodyPr wrap="square" lIns="0" tIns="0" rIns="0" bIns="0" rtlCol="0" anchor="ctr"/>
          <a:lstStyle/>
          <a:p>
            <a:pPr algn="r" indent="0" marL="0">
              <a:buNone/>
            </a:pPr>
            <a:r>
              <a:rPr lang="en-US" sz="900" dirty="0">
                <a:solidFill>
                  <a:srgbClr val="8FA9C9"/>
                </a:solidFill>
                <a:latin typeface="Calibri" pitchFamily="34" charset="0"/>
                <a:ea typeface="Calibri" pitchFamily="34" charset="-122"/>
                <a:cs typeface="Calibri" pitchFamily="34" charset="-120"/>
              </a:rPr>
              <a:t>14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home/claude/assets/bg/hero_lock.png">    </p:cNvPr>
          <p:cNvPicPr>
            <a:picLocks noChangeAspect="1"/>
          </p:cNvPicPr>
          <p:nvPr/>
        </p:nvPicPr>
        <p:blipFill>
          <a:blip r:embed="rId1"/>
          <a:stretch>
            <a:fillRect/>
          </a:stretch>
        </p:blipFill>
        <p:spPr>
          <a:xfrm>
            <a:off x="7955280" y="1554480"/>
            <a:ext cx="3566160" cy="3566160"/>
          </a:xfrm>
          <a:prstGeom prst="rect">
            <a:avLst/>
          </a:prstGeom>
        </p:spPr>
      </p:pic>
      <p:sp>
        <p:nvSpPr>
          <p:cNvPr id="3" name="Text 0"/>
          <p:cNvSpPr/>
          <p:nvPr/>
        </p:nvSpPr>
        <p:spPr>
          <a:xfrm>
            <a:off x="731520" y="2286000"/>
            <a:ext cx="6858000" cy="10972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4" name="Text 1"/>
          <p:cNvSpPr/>
          <p:nvPr/>
        </p:nvSpPr>
        <p:spPr>
          <a:xfrm>
            <a:off x="731520" y="3246120"/>
            <a:ext cx="6858000" cy="548640"/>
          </a:xfrm>
          <a:prstGeom prst="rect">
            <a:avLst/>
          </a:prstGeom>
          <a:noFill/>
          <a:ln/>
        </p:spPr>
        <p:txBody>
          <a:bodyPr wrap="square" lIns="0" tIns="0" rIns="0" bIns="0" rtlCol="0" anchor="ctr"/>
          <a:lstStyle/>
          <a:p>
            <a:pPr indent="0" marL="0">
              <a:buNone/>
            </a:pPr>
            <a:r>
              <a:rPr lang="en-US" sz="2000" i="1" dirty="0">
                <a:solidFill>
                  <a:srgbClr val="3EC6FF"/>
                </a:solidFill>
                <a:latin typeface="Calibri" pitchFamily="34" charset="0"/>
                <a:ea typeface="Calibri" pitchFamily="34" charset="-122"/>
                <a:cs typeface="Calibri" pitchFamily="34" charset="-120"/>
              </a:rPr>
              <a:t>Questions &amp; Discussion</a:t>
            </a:r>
            <a:endParaRPr lang="en-US" sz="2000" dirty="0"/>
          </a:p>
        </p:txBody>
      </p:sp>
      <p:sp>
        <p:nvSpPr>
          <p:cNvPr id="5" name="Shape 2"/>
          <p:cNvSpPr/>
          <p:nvPr/>
        </p:nvSpPr>
        <p:spPr>
          <a:xfrm>
            <a:off x="777240" y="3977640"/>
            <a:ext cx="2926080" cy="0"/>
          </a:xfrm>
          <a:prstGeom prst="line">
            <a:avLst/>
          </a:prstGeom>
          <a:noFill/>
          <a:ln w="19050">
            <a:solidFill>
              <a:srgbClr val="2E86FF">
                <a:alpha val="70000"/>
              </a:srgbClr>
            </a:solidFill>
            <a:prstDash val="solid"/>
          </a:ln>
        </p:spPr>
      </p:sp>
      <p:sp>
        <p:nvSpPr>
          <p:cNvPr id="6" name="Text 3"/>
          <p:cNvSpPr/>
          <p:nvPr/>
        </p:nvSpPr>
        <p:spPr>
          <a:xfrm>
            <a:off x="777240" y="4206240"/>
            <a:ext cx="5486400" cy="1097280"/>
          </a:xfrm>
          <a:prstGeom prst="rect">
            <a:avLst/>
          </a:prstGeom>
          <a:noFill/>
          <a:ln/>
        </p:spPr>
        <p:txBody>
          <a:bodyPr wrap="square" lIns="0" tIns="0" rIns="0" bIns="0" rtlCol="0" anchor="ctr"/>
          <a:lstStyle/>
          <a:p>
            <a:pPr indent="0" marL="0">
              <a:lnSpc>
                <a:spcPct val="120000"/>
              </a:lnSpc>
              <a:buNone/>
            </a:pPr>
            <a:r>
              <a:rPr lang="en-US" sz="1600" b="1" dirty="0">
                <a:solidFill>
                  <a:srgbClr val="FFFFFF"/>
                </a:solidFill>
                <a:latin typeface="Calibri" pitchFamily="34" charset="0"/>
                <a:ea typeface="Calibri" pitchFamily="34" charset="-122"/>
                <a:cs typeface="Calibri" pitchFamily="34" charset="-120"/>
              </a:rPr>
              <a:t>Sangeeth M
</a:t>
            </a:r>
            <a:endParaRPr lang="en-US" sz="1600" dirty="0"/>
          </a:p>
          <a:p>
            <a:pPr indent="0" marL="0">
              <a:lnSpc>
                <a:spcPct val="120000"/>
              </a:lnSpc>
              <a:buNone/>
            </a:pPr>
            <a:r>
              <a:rPr lang="en-US" sz="1300" dirty="0">
                <a:solidFill>
                  <a:srgbClr val="CADCFC"/>
                </a:solidFill>
                <a:latin typeface="Calibri" pitchFamily="34" charset="0"/>
                <a:ea typeface="Calibri" pitchFamily="34" charset="-122"/>
                <a:cs typeface="Calibri" pitchFamily="34" charset="-120"/>
              </a:rPr>
              <a:t>Certified Cybersecurity Analyst
</a:t>
            </a:r>
            <a:endParaRPr lang="en-US" sz="1600" dirty="0"/>
          </a:p>
          <a:p>
            <a:pPr indent="0" marL="0">
              <a:lnSpc>
                <a:spcPct val="120000"/>
              </a:lnSpc>
              <a:buNone/>
            </a:pPr>
            <a:r>
              <a:rPr lang="en-US" sz="1300" dirty="0">
                <a:solidFill>
                  <a:srgbClr val="8FA9C9"/>
                </a:solidFill>
                <a:latin typeface="Calibri" pitchFamily="34" charset="0"/>
                <a:ea typeface="Calibri" pitchFamily="34" charset="-122"/>
                <a:cs typeface="Calibri" pitchFamily="34" charset="-120"/>
              </a:rPr>
              <a:t>ICT Academy of Kerala</a:t>
            </a:r>
            <a:endParaRPr lang="en-US" sz="1600" dirty="0"/>
          </a:p>
        </p:txBody>
      </p:sp>
      <p:pic>
        <p:nvPicPr>
          <p:cNvPr id="7" name="Image 1" descr="/home/claude/assets/badges/question_outline.png">    </p:cNvPr>
          <p:cNvPicPr>
            <a:picLocks noChangeAspect="1"/>
          </p:cNvPicPr>
          <p:nvPr/>
        </p:nvPicPr>
        <p:blipFill>
          <a:blip r:embed="rId2"/>
          <a:stretch>
            <a:fillRect/>
          </a:stretch>
        </p:blipFill>
        <p:spPr>
          <a:xfrm>
            <a:off x="777240" y="5486400"/>
            <a:ext cx="548640" cy="548640"/>
          </a:xfrm>
          <a:prstGeom prst="rect">
            <a:avLst/>
          </a:prstGeom>
        </p:spPr>
      </p:pic>
      <p:sp>
        <p:nvSpPr>
          <p:cNvPr id="8" name="Text 4"/>
          <p:cNvSpPr/>
          <p:nvPr/>
        </p:nvSpPr>
        <p:spPr>
          <a:xfrm>
            <a:off x="1463040" y="5577840"/>
            <a:ext cx="5486400" cy="457200"/>
          </a:xfrm>
          <a:prstGeom prst="rect">
            <a:avLst/>
          </a:prstGeom>
          <a:noFill/>
          <a:ln/>
        </p:spPr>
        <p:txBody>
          <a:bodyPr wrap="square" lIns="0" tIns="0" rIns="0" bIns="0" rtlCol="0" anchor="ctr"/>
          <a:lstStyle/>
          <a:p>
            <a:pPr indent="0" marL="0">
              <a:buNone/>
            </a:pPr>
            <a:r>
              <a:rPr lang="en-US" sz="1250" dirty="0">
                <a:solidFill>
                  <a:srgbClr val="8FA9C9"/>
                </a:solidFill>
                <a:latin typeface="Calibri" pitchFamily="34" charset="0"/>
                <a:ea typeface="Calibri" pitchFamily="34" charset="-122"/>
                <a:cs typeface="Calibri" pitchFamily="34" charset="-120"/>
              </a:rPr>
              <a:t>Open floor for questions and further discussion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2026-07-16T20:18:52Z</dcterms:created>
  <dcterms:modified xsi:type="dcterms:W3CDTF">2026-07-16T20:18:52Z</dcterms:modified>
</cp:coreProperties>
</file>